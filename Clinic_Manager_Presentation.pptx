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2A2A"/>
        </a:solidFill>
      </p:bgPr>
    </p:bg>
    <p:spTree>
      <p:nvGrpSpPr>
        <p:cNvPr id="1" name=""/>
        <p:cNvGrpSpPr/>
        <p:nvPr/>
      </p:nvGrpSpPr>
      <p:grpSpPr>
        <a:xfrm>
          <a:off x="0" y="0"/>
          <a:ext cx="0" cy="0"/>
          <a:chOff x="0" y="0"/>
          <a:chExt cx="0" cy="0"/>
        </a:xfrm>
      </p:grpSpPr>
      <p:sp>
        <p:nvSpPr>
          <p:cNvPr id="2" name="Shape 0"/>
          <p:cNvSpPr/>
          <p:nvPr/>
        </p:nvSpPr>
        <p:spPr>
          <a:xfrm>
            <a:off x="9692640" y="-1188720"/>
            <a:ext cx="4114800" cy="4114800"/>
          </a:xfrm>
          <a:prstGeom prst="ellipse">
            <a:avLst/>
          </a:prstGeom>
          <a:solidFill>
            <a:srgbClr val="0E4B4B">
              <a:alpha val="70000"/>
            </a:srgbClr>
          </a:solidFill>
          <a:ln/>
        </p:spPr>
      </p:sp>
      <p:sp>
        <p:nvSpPr>
          <p:cNvPr id="3" name="Shape 1"/>
          <p:cNvSpPr/>
          <p:nvPr/>
        </p:nvSpPr>
        <p:spPr>
          <a:xfrm>
            <a:off x="10789920" y="4754880"/>
            <a:ext cx="2926080" cy="2926080"/>
          </a:xfrm>
          <a:prstGeom prst="ellipse">
            <a:avLst/>
          </a:prstGeom>
          <a:solidFill>
            <a:srgbClr val="2EC4B6">
              <a:alpha val="22000"/>
            </a:srgbClr>
          </a:solidFill>
          <a:ln/>
        </p:spPr>
      </p:sp>
      <p:sp>
        <p:nvSpPr>
          <p:cNvPr id="4" name="Shape 2"/>
          <p:cNvSpPr/>
          <p:nvPr/>
        </p:nvSpPr>
        <p:spPr>
          <a:xfrm>
            <a:off x="-1097280" y="4206240"/>
            <a:ext cx="3291840" cy="3291840"/>
          </a:xfrm>
          <a:prstGeom prst="ellipse">
            <a:avLst/>
          </a:prstGeom>
          <a:solidFill>
            <a:srgbClr val="FF7A59">
              <a:alpha val="18000"/>
            </a:srgbClr>
          </a:solidFill>
          <a:ln/>
        </p:spPr>
      </p:sp>
      <p:sp>
        <p:nvSpPr>
          <p:cNvPr id="5" name="Shape 3"/>
          <p:cNvSpPr/>
          <p:nvPr/>
        </p:nvSpPr>
        <p:spPr>
          <a:xfrm>
            <a:off x="822960" y="1965960"/>
            <a:ext cx="1554480" cy="502920"/>
          </a:xfrm>
          <a:prstGeom prst="roundRect">
            <a:avLst>
              <a:gd name="adj" fmla="val 50909"/>
            </a:avLst>
          </a:prstGeom>
          <a:solidFill>
            <a:srgbClr val="FF7A59"/>
          </a:solidFill>
          <a:ln/>
        </p:spPr>
      </p:sp>
      <p:sp>
        <p:nvSpPr>
          <p:cNvPr id="6" name="Text 4"/>
          <p:cNvSpPr txBox="1"/>
          <p:nvPr/>
        </p:nvSpPr>
        <p:spPr>
          <a:xfrm>
            <a:off x="822960" y="1965960"/>
            <a:ext cx="155448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JAVA PROJECT</a:t>
            </a:r>
            <a:endParaRPr lang="en-US" sz="1200" dirty="0"/>
          </a:p>
        </p:txBody>
      </p:sp>
      <p:sp>
        <p:nvSpPr>
          <p:cNvPr id="7" name="Text 5"/>
          <p:cNvSpPr txBox="1"/>
          <p:nvPr/>
        </p:nvSpPr>
        <p:spPr>
          <a:xfrm>
            <a:off x="822960" y="2606040"/>
            <a:ext cx="9601200" cy="1920240"/>
          </a:xfrm>
          <a:prstGeom prst="rect">
            <a:avLst/>
          </a:prstGeom>
          <a:noFill/>
          <a:ln/>
        </p:spPr>
        <p:txBody>
          <a:bodyPr wrap="square" lIns="0" tIns="0" rIns="0" bIns="0" rtlCol="0" anchor="ctr"/>
          <a:lstStyle/>
          <a:p>
            <a:pPr algn="l" indent="0" marL="0">
              <a:lnSpc>
                <a:spcPts val="4600"/>
              </a:lnSpc>
              <a:buNone/>
            </a:pPr>
            <a:r>
              <a:rPr lang="en-US" sz="4200" b="1" dirty="0">
                <a:solidFill>
                  <a:srgbClr val="FFFFFF"/>
                </a:solidFill>
                <a:latin typeface="Cambria" pitchFamily="34" charset="0"/>
                <a:ea typeface="Cambria" pitchFamily="34" charset="-122"/>
                <a:cs typeface="Cambria" pitchFamily="34" charset="-120"/>
              </a:rPr>
              <a:t>Clinic Appointment &amp;</a:t>
            </a:r>
            <a:endParaRPr lang="en-US" sz="4200" dirty="0"/>
          </a:p>
          <a:p>
            <a:pPr algn="l" indent="0" marL="0">
              <a:lnSpc>
                <a:spcPts val="4600"/>
              </a:lnSpc>
              <a:buNone/>
            </a:pPr>
            <a:r>
              <a:rPr lang="en-US" sz="4200" b="1" dirty="0">
                <a:solidFill>
                  <a:srgbClr val="FFFFFF"/>
                </a:solidFill>
                <a:latin typeface="Cambria" pitchFamily="34" charset="0"/>
                <a:ea typeface="Cambria" pitchFamily="34" charset="-122"/>
                <a:cs typeface="Cambria" pitchFamily="34" charset="-120"/>
              </a:rPr>
              <a:t>Prescription Manager</a:t>
            </a:r>
            <a:endParaRPr lang="en-US" sz="4200" dirty="0"/>
          </a:p>
        </p:txBody>
      </p:sp>
      <p:sp>
        <p:nvSpPr>
          <p:cNvPr id="8" name="Text 6"/>
          <p:cNvSpPr txBox="1"/>
          <p:nvPr/>
        </p:nvSpPr>
        <p:spPr>
          <a:xfrm>
            <a:off x="822960" y="4572000"/>
            <a:ext cx="8686800" cy="731520"/>
          </a:xfrm>
          <a:prstGeom prst="rect">
            <a:avLst/>
          </a:prstGeom>
          <a:noFill/>
          <a:ln/>
        </p:spPr>
        <p:txBody>
          <a:bodyPr wrap="square" lIns="0" tIns="0" rIns="0" bIns="0" rtlCol="0" anchor="ctr"/>
          <a:lstStyle/>
          <a:p>
            <a:pPr algn="l" indent="0" marL="0">
              <a:buNone/>
            </a:pPr>
            <a:r>
              <a:rPr lang="en-US" sz="1500" dirty="0">
                <a:solidFill>
                  <a:srgbClr val="C9E8E4"/>
                </a:solidFill>
                <a:latin typeface="Calibri" pitchFamily="34" charset="0"/>
                <a:ea typeface="Calibri" pitchFamily="34" charset="-122"/>
                <a:cs typeface="Calibri" pitchFamily="34" charset="-120"/>
              </a:rPr>
              <a:t>A console-based Java application applying Object-Oriented Design, Collections,</a:t>
            </a:r>
            <a:endParaRPr lang="en-US" sz="1500" dirty="0"/>
          </a:p>
          <a:p>
            <a:pPr algn="l" indent="0" marL="0">
              <a:buNone/>
            </a:pPr>
            <a:r>
              <a:rPr lang="en-US" sz="1500" dirty="0">
                <a:solidFill>
                  <a:srgbClr val="C9E8E4"/>
                </a:solidFill>
                <a:latin typeface="Calibri" pitchFamily="34" charset="0"/>
                <a:ea typeface="Calibri" pitchFamily="34" charset="-122"/>
                <a:cs typeface="Calibri" pitchFamily="34" charset="-120"/>
              </a:rPr>
              <a:t>Streams and File I/O to a real clinic workflow</a:t>
            </a:r>
            <a:endParaRPr lang="en-US" sz="1500" dirty="0"/>
          </a:p>
        </p:txBody>
      </p:sp>
      <p:sp>
        <p:nvSpPr>
          <p:cNvPr id="9" name="Text 7"/>
          <p:cNvSpPr txBox="1"/>
          <p:nvPr/>
        </p:nvSpPr>
        <p:spPr>
          <a:xfrm>
            <a:off x="822960" y="5989320"/>
            <a:ext cx="9601200" cy="365760"/>
          </a:xfrm>
          <a:prstGeom prst="rect">
            <a:avLst/>
          </a:prstGeom>
          <a:noFill/>
          <a:ln/>
        </p:spPr>
        <p:txBody>
          <a:bodyPr wrap="square" lIns="0" tIns="0" rIns="0" bIns="0" rtlCol="0" anchor="ctr"/>
          <a:lstStyle/>
          <a:p>
            <a:pPr algn="l" indent="0" marL="0">
              <a:buNone/>
            </a:pPr>
            <a:r>
              <a:rPr lang="en-US" sz="1200" i="1" dirty="0">
                <a:solidFill>
                  <a:srgbClr val="2EC4B6"/>
                </a:solidFill>
                <a:latin typeface="Calibri" pitchFamily="34" charset="0"/>
                <a:ea typeface="Calibri" pitchFamily="34" charset="-122"/>
                <a:cs typeface="Calibri" pitchFamily="34" charset="-120"/>
              </a:rPr>
              <a:t>Core Java  •  OOP  •  Exception Handling  •  Collections &amp; Streams  •  File I/O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AF9"/>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0E4B4B"/>
          </a:solidFill>
          <a:ln/>
        </p:spPr>
      </p:sp>
      <p:sp>
        <p:nvSpPr>
          <p:cNvPr id="3" name="Text 1"/>
          <p:cNvSpPr txBox="1"/>
          <p:nvPr/>
        </p:nvSpPr>
        <p:spPr>
          <a:xfrm>
            <a:off x="548640" y="5029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4" name="Text 2"/>
          <p:cNvSpPr txBox="1"/>
          <p:nvPr/>
        </p:nvSpPr>
        <p:spPr>
          <a:xfrm>
            <a:off x="1325880" y="457200"/>
            <a:ext cx="7315200" cy="640080"/>
          </a:xfrm>
          <a:prstGeom prst="rect">
            <a:avLst/>
          </a:prstGeom>
          <a:noFill/>
          <a:ln/>
        </p:spPr>
        <p:txBody>
          <a:bodyPr wrap="square" lIns="0" tIns="0" rIns="0" bIns="0" rtlCol="0" anchor="ctr"/>
          <a:lstStyle/>
          <a:p>
            <a:pPr algn="l" indent="0" marL="0">
              <a:buNone/>
            </a:pPr>
            <a:r>
              <a:rPr lang="en-US" sz="3200" b="1" dirty="0">
                <a:solidFill>
                  <a:srgbClr val="16302F"/>
                </a:solidFill>
                <a:latin typeface="Cambria" pitchFamily="34" charset="0"/>
                <a:ea typeface="Cambria" pitchFamily="34" charset="-122"/>
                <a:cs typeface="Cambria" pitchFamily="34" charset="-120"/>
              </a:rPr>
              <a:t>Abstract</a:t>
            </a:r>
            <a:endParaRPr lang="en-US" sz="3200" dirty="0"/>
          </a:p>
        </p:txBody>
      </p:sp>
      <p:sp>
        <p:nvSpPr>
          <p:cNvPr id="5" name="Shape 3"/>
          <p:cNvSpPr/>
          <p:nvPr/>
        </p:nvSpPr>
        <p:spPr>
          <a:xfrm>
            <a:off x="548640" y="1417320"/>
            <a:ext cx="7315200" cy="4846320"/>
          </a:xfrm>
          <a:prstGeom prst="roundRect">
            <a:avLst>
              <a:gd name="adj" fmla="val 2264"/>
            </a:avLst>
          </a:prstGeom>
          <a:solidFill>
            <a:srgbClr val="FFFFFF"/>
          </a:solidFill>
          <a:ln/>
          <a:effectLst>
            <a:outerShdw sx="100000" sy="100000" kx="0" ky="0" algn="bl" rotWithShape="0" blurRad="101600" dist="38100" dir="5400000">
              <a:srgbClr val="44544F">
                <a:alpha val="15000"/>
              </a:srgbClr>
            </a:outerShdw>
          </a:effectLst>
        </p:spPr>
      </p:sp>
      <p:sp>
        <p:nvSpPr>
          <p:cNvPr id="6" name="Text 4"/>
          <p:cNvSpPr txBox="1"/>
          <p:nvPr/>
        </p:nvSpPr>
        <p:spPr>
          <a:xfrm>
            <a:off x="914400" y="1737360"/>
            <a:ext cx="6583680" cy="4297680"/>
          </a:xfrm>
          <a:prstGeom prst="rect">
            <a:avLst/>
          </a:prstGeom>
          <a:noFill/>
          <a:ln/>
        </p:spPr>
        <p:txBody>
          <a:bodyPr wrap="square" lIns="0" tIns="0" rIns="0" bIns="0" rtlCol="0" anchor="t"/>
          <a:lstStyle/>
          <a:p>
            <a:pPr algn="l" indent="0" marL="0">
              <a:lnSpc>
                <a:spcPct val="125000"/>
              </a:lnSpc>
              <a:buNone/>
            </a:pPr>
            <a:r>
              <a:rPr lang="en-US" sz="1400" dirty="0">
                <a:solidFill>
                  <a:srgbClr val="16302F"/>
                </a:solidFill>
                <a:latin typeface="Calibri" pitchFamily="34" charset="0"/>
                <a:ea typeface="Calibri" pitchFamily="34" charset="-122"/>
                <a:cs typeface="Calibri" pitchFamily="34" charset="-120"/>
              </a:rPr>
              <a:t>The </a:t>
            </a:r>
            <a:pPr algn="l" indent="0" marL="0">
              <a:lnSpc>
                <a:spcPct val="125000"/>
              </a:lnSpc>
              <a:buNone/>
            </a:pPr>
            <a:r>
              <a:rPr lang="en-US" sz="1400" b="1" dirty="0">
                <a:solidFill>
                  <a:srgbClr val="0E4B4B"/>
                </a:solidFill>
                <a:latin typeface="Calibri" pitchFamily="34" charset="0"/>
                <a:ea typeface="Calibri" pitchFamily="34" charset="-122"/>
                <a:cs typeface="Calibri" pitchFamily="34" charset="-120"/>
              </a:rPr>
              <a:t>Clinic Appointment &amp; Prescription Manager</a:t>
            </a:r>
            <a:pPr algn="l" indent="0" marL="0">
              <a:lnSpc>
                <a:spcPct val="125000"/>
              </a:lnSpc>
              <a:buNone/>
            </a:pPr>
            <a:r>
              <a:rPr lang="en-US" sz="1400" dirty="0">
                <a:solidFill>
                  <a:srgbClr val="16302F"/>
                </a:solidFill>
                <a:latin typeface="Calibri" pitchFamily="34" charset="0"/>
                <a:ea typeface="Calibri" pitchFamily="34" charset="-122"/>
                <a:cs typeface="Calibri" pitchFamily="34" charset="-120"/>
              </a:rPr>
              <a:t> is a menu-driven, console-based Java application that digitises the day-to-day front-desk operations of a small clinic — registering patients and doctors, booking and tracking appointments, generating prescriptions, computing consultation bills and persisting appointment records to disk.
</a:t>
            </a:r>
            <a:pPr algn="l" indent="0" marL="0">
              <a:lnSpc>
                <a:spcPct val="125000"/>
              </a:lnSpc>
              <a:buNone/>
            </a:pPr>
            <a:r>
              <a:rPr lang="en-US" sz="1400" dirty="0">
                <a:solidFill>
                  <a:srgbClr val="16302F"/>
                </a:solidFill>
                <a:latin typeface="Calibri" pitchFamily="34" charset="0"/>
                <a:ea typeface="Calibri" pitchFamily="34" charset="-122"/>
                <a:cs typeface="Calibri" pitchFamily="34" charset="-120"/>
              </a:rPr>
              <a:t>The system is designed as a teaching project that deliberately exercises every stage of a first Java course: primitive data types and operators, structured control flow, methods and recursion, object-oriented modelling with inheritance and interfaces, robust exception handling, string processing and file persistence, and finally the Collections Framework together with lambda expressions and the Stream API for reporting and analytics.
</a:t>
            </a:r>
            <a:pPr algn="l" indent="0" marL="0">
              <a:lnSpc>
                <a:spcPct val="125000"/>
              </a:lnSpc>
              <a:buNone/>
            </a:pPr>
            <a:r>
              <a:rPr lang="en-US" sz="1400" dirty="0">
                <a:solidFill>
                  <a:srgbClr val="16302F"/>
                </a:solidFill>
                <a:latin typeface="Calibri" pitchFamily="34" charset="0"/>
                <a:ea typeface="Calibri" pitchFamily="34" charset="-122"/>
                <a:cs typeface="Calibri" pitchFamily="34" charset="-120"/>
              </a:rPr>
              <a:t>Rather than a toy demo, the application models real clinic entities — Person, Doctor, Patient, Appointment, Prescription — with clean encapsulation, so the same codebase doubles as a working reference for how each Java concept is used in a practical, end-to-end program.</a:t>
            </a:r>
            <a:endParaRPr lang="en-US" sz="1400" dirty="0"/>
          </a:p>
        </p:txBody>
      </p:sp>
      <p:sp>
        <p:nvSpPr>
          <p:cNvPr id="7" name="Shape 5"/>
          <p:cNvSpPr/>
          <p:nvPr/>
        </p:nvSpPr>
        <p:spPr>
          <a:xfrm>
            <a:off x="8229600" y="1737360"/>
            <a:ext cx="3383280" cy="1417320"/>
          </a:xfrm>
          <a:prstGeom prst="roundRect">
            <a:avLst>
              <a:gd name="adj" fmla="val 6452"/>
            </a:avLst>
          </a:prstGeom>
          <a:solidFill>
            <a:srgbClr val="0E4B4B"/>
          </a:solidFill>
          <a:ln/>
        </p:spPr>
      </p:sp>
      <p:sp>
        <p:nvSpPr>
          <p:cNvPr id="8" name="Text 6"/>
          <p:cNvSpPr txBox="1"/>
          <p:nvPr/>
        </p:nvSpPr>
        <p:spPr>
          <a:xfrm>
            <a:off x="8229600" y="1847088"/>
            <a:ext cx="3383280" cy="685800"/>
          </a:xfrm>
          <a:prstGeom prst="rect">
            <a:avLst/>
          </a:prstGeom>
          <a:noFill/>
          <a:ln/>
        </p:spPr>
        <p:txBody>
          <a:bodyPr wrap="square" lIns="0" tIns="0" rIns="0" bIns="0" rtlCol="0" anchor="ctr"/>
          <a:lstStyle/>
          <a:p>
            <a:pPr algn="ctr" indent="0" marL="0">
              <a:buNone/>
            </a:pPr>
            <a:r>
              <a:rPr lang="en-US" sz="3000" b="1" dirty="0">
                <a:solidFill>
                  <a:srgbClr val="2EC4B6"/>
                </a:solidFill>
                <a:latin typeface="Cambria" pitchFamily="34" charset="0"/>
                <a:ea typeface="Cambria" pitchFamily="34" charset="-122"/>
                <a:cs typeface="Cambria" pitchFamily="34" charset="-120"/>
              </a:rPr>
              <a:t>6</a:t>
            </a:r>
            <a:endParaRPr lang="en-US" sz="3000" dirty="0"/>
          </a:p>
        </p:txBody>
      </p:sp>
      <p:sp>
        <p:nvSpPr>
          <p:cNvPr id="9" name="Text 7"/>
          <p:cNvSpPr txBox="1"/>
          <p:nvPr/>
        </p:nvSpPr>
        <p:spPr>
          <a:xfrm>
            <a:off x="8366760" y="2578608"/>
            <a:ext cx="3108960" cy="50292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Syllabus modules applied</a:t>
            </a:r>
            <a:endParaRPr lang="en-US" sz="1150" dirty="0"/>
          </a:p>
        </p:txBody>
      </p:sp>
      <p:sp>
        <p:nvSpPr>
          <p:cNvPr id="10" name="Shape 8"/>
          <p:cNvSpPr/>
          <p:nvPr/>
        </p:nvSpPr>
        <p:spPr>
          <a:xfrm>
            <a:off x="8229600" y="3429000"/>
            <a:ext cx="3383280" cy="1417320"/>
          </a:xfrm>
          <a:prstGeom prst="roundRect">
            <a:avLst>
              <a:gd name="adj" fmla="val 6452"/>
            </a:avLst>
          </a:prstGeom>
          <a:solidFill>
            <a:srgbClr val="0E4B4B"/>
          </a:solidFill>
          <a:ln/>
        </p:spPr>
      </p:sp>
      <p:sp>
        <p:nvSpPr>
          <p:cNvPr id="11" name="Text 9"/>
          <p:cNvSpPr txBox="1"/>
          <p:nvPr/>
        </p:nvSpPr>
        <p:spPr>
          <a:xfrm>
            <a:off x="8229600" y="3538728"/>
            <a:ext cx="3383280" cy="685800"/>
          </a:xfrm>
          <a:prstGeom prst="rect">
            <a:avLst/>
          </a:prstGeom>
          <a:noFill/>
          <a:ln/>
        </p:spPr>
        <p:txBody>
          <a:bodyPr wrap="square" lIns="0" tIns="0" rIns="0" bIns="0" rtlCol="0" anchor="ctr"/>
          <a:lstStyle/>
          <a:p>
            <a:pPr algn="ctr" indent="0" marL="0">
              <a:buNone/>
            </a:pPr>
            <a:r>
              <a:rPr lang="en-US" sz="3000" b="1" dirty="0">
                <a:solidFill>
                  <a:srgbClr val="2EC4B6"/>
                </a:solidFill>
                <a:latin typeface="Cambria" pitchFamily="34" charset="0"/>
                <a:ea typeface="Cambria" pitchFamily="34" charset="-122"/>
                <a:cs typeface="Cambria" pitchFamily="34" charset="-120"/>
              </a:rPr>
              <a:t>10+</a:t>
            </a:r>
            <a:endParaRPr lang="en-US" sz="3000" dirty="0"/>
          </a:p>
        </p:txBody>
      </p:sp>
      <p:sp>
        <p:nvSpPr>
          <p:cNvPr id="12" name="Text 10"/>
          <p:cNvSpPr txBox="1"/>
          <p:nvPr/>
        </p:nvSpPr>
        <p:spPr>
          <a:xfrm>
            <a:off x="8366760" y="4270248"/>
            <a:ext cx="3108960" cy="50292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Java classes &amp; interfaces</a:t>
            </a:r>
            <a:endParaRPr lang="en-US" sz="1150" dirty="0"/>
          </a:p>
        </p:txBody>
      </p:sp>
      <p:sp>
        <p:nvSpPr>
          <p:cNvPr id="13" name="Shape 11"/>
          <p:cNvSpPr/>
          <p:nvPr/>
        </p:nvSpPr>
        <p:spPr>
          <a:xfrm>
            <a:off x="8229600" y="5120640"/>
            <a:ext cx="3383280" cy="1417320"/>
          </a:xfrm>
          <a:prstGeom prst="roundRect">
            <a:avLst>
              <a:gd name="adj" fmla="val 6452"/>
            </a:avLst>
          </a:prstGeom>
          <a:solidFill>
            <a:srgbClr val="0E4B4B"/>
          </a:solidFill>
          <a:ln/>
        </p:spPr>
      </p:sp>
      <p:sp>
        <p:nvSpPr>
          <p:cNvPr id="14" name="Text 12"/>
          <p:cNvSpPr txBox="1"/>
          <p:nvPr/>
        </p:nvSpPr>
        <p:spPr>
          <a:xfrm>
            <a:off x="8229600" y="5230368"/>
            <a:ext cx="3383280" cy="685800"/>
          </a:xfrm>
          <a:prstGeom prst="rect">
            <a:avLst/>
          </a:prstGeom>
          <a:noFill/>
          <a:ln/>
        </p:spPr>
        <p:txBody>
          <a:bodyPr wrap="square" lIns="0" tIns="0" rIns="0" bIns="0" rtlCol="0" anchor="ctr"/>
          <a:lstStyle/>
          <a:p>
            <a:pPr algn="ctr" indent="0" marL="0">
              <a:buNone/>
            </a:pPr>
            <a:r>
              <a:rPr lang="en-US" sz="3000" b="1" dirty="0">
                <a:solidFill>
                  <a:srgbClr val="2EC4B6"/>
                </a:solidFill>
                <a:latin typeface="Cambria" pitchFamily="34" charset="0"/>
                <a:ea typeface="Cambria" pitchFamily="34" charset="-122"/>
                <a:cs typeface="Cambria" pitchFamily="34" charset="-120"/>
              </a:rPr>
              <a:t>9</a:t>
            </a:r>
            <a:endParaRPr lang="en-US" sz="3000" dirty="0"/>
          </a:p>
        </p:txBody>
      </p:sp>
      <p:sp>
        <p:nvSpPr>
          <p:cNvPr id="15" name="Text 13"/>
          <p:cNvSpPr txBox="1"/>
          <p:nvPr/>
        </p:nvSpPr>
        <p:spPr>
          <a:xfrm>
            <a:off x="8366760" y="5961888"/>
            <a:ext cx="3108960" cy="50292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Menu-driven features</a:t>
            </a:r>
            <a:endParaRPr lang="en-US" sz="1150" dirty="0"/>
          </a:p>
        </p:txBody>
      </p:sp>
      <p:sp>
        <p:nvSpPr>
          <p:cNvPr id="16" name="Text 14"/>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6736F"/>
                </a:solidFill>
                <a:latin typeface="Calibri" pitchFamily="34" charset="0"/>
                <a:ea typeface="Calibri" pitchFamily="34" charset="-122"/>
                <a:cs typeface="Calibri" pitchFamily="34" charset="-120"/>
              </a:rPr>
              <a:t>Clinic Appointment &amp; Prescription Manager</a:t>
            </a:r>
            <a:endParaRPr lang="en-US" sz="900" dirty="0"/>
          </a:p>
        </p:txBody>
      </p:sp>
      <p:sp>
        <p:nvSpPr>
          <p:cNvPr id="17" name="Text 15"/>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900" dirty="0">
                <a:solidFill>
                  <a:srgbClr val="56736F"/>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AF9"/>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0E4B4B"/>
          </a:solidFill>
          <a:ln/>
        </p:spPr>
      </p:sp>
      <p:sp>
        <p:nvSpPr>
          <p:cNvPr id="3" name="Text 1"/>
          <p:cNvSpPr txBox="1"/>
          <p:nvPr/>
        </p:nvSpPr>
        <p:spPr>
          <a:xfrm>
            <a:off x="548640" y="5029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4" name="Text 2"/>
          <p:cNvSpPr txBox="1"/>
          <p:nvPr/>
        </p:nvSpPr>
        <p:spPr>
          <a:xfrm>
            <a:off x="1325880" y="457200"/>
            <a:ext cx="7315200" cy="640080"/>
          </a:xfrm>
          <a:prstGeom prst="rect">
            <a:avLst/>
          </a:prstGeom>
          <a:noFill/>
          <a:ln/>
        </p:spPr>
        <p:txBody>
          <a:bodyPr wrap="square" lIns="0" tIns="0" rIns="0" bIns="0" rtlCol="0" anchor="ctr"/>
          <a:lstStyle/>
          <a:p>
            <a:pPr algn="l" indent="0" marL="0">
              <a:buNone/>
            </a:pPr>
            <a:r>
              <a:rPr lang="en-US" sz="3200" b="1" dirty="0">
                <a:solidFill>
                  <a:srgbClr val="16302F"/>
                </a:solidFill>
                <a:latin typeface="Cambria" pitchFamily="34" charset="0"/>
                <a:ea typeface="Cambria" pitchFamily="34" charset="-122"/>
                <a:cs typeface="Cambria" pitchFamily="34" charset="-120"/>
              </a:rPr>
              <a:t>Advantages</a:t>
            </a:r>
            <a:endParaRPr lang="en-US" sz="3200" dirty="0"/>
          </a:p>
        </p:txBody>
      </p:sp>
      <p:sp>
        <p:nvSpPr>
          <p:cNvPr id="5" name="Shape 3"/>
          <p:cNvSpPr/>
          <p:nvPr/>
        </p:nvSpPr>
        <p:spPr>
          <a:xfrm>
            <a:off x="548640" y="1463040"/>
            <a:ext cx="3611880" cy="1965960"/>
          </a:xfrm>
          <a:prstGeom prst="roundRect">
            <a:avLst>
              <a:gd name="adj" fmla="val 4651"/>
            </a:avLst>
          </a:prstGeom>
          <a:solidFill>
            <a:srgbClr val="FFFFFF"/>
          </a:solidFill>
          <a:ln/>
          <a:effectLst>
            <a:outerShdw sx="100000" sy="100000" kx="0" ky="0" algn="bl" rotWithShape="0" blurRad="88900" dist="25400" dir="5400000">
              <a:srgbClr val="44544F">
                <a:alpha val="14000"/>
              </a:srgbClr>
            </a:outerShdw>
          </a:effectLst>
        </p:spPr>
      </p:sp>
      <p:sp>
        <p:nvSpPr>
          <p:cNvPr id="6" name="Shape 4"/>
          <p:cNvSpPr/>
          <p:nvPr/>
        </p:nvSpPr>
        <p:spPr>
          <a:xfrm>
            <a:off x="777240" y="1691640"/>
            <a:ext cx="457200" cy="457200"/>
          </a:xfrm>
          <a:prstGeom prst="ellipse">
            <a:avLst/>
          </a:prstGeom>
          <a:solidFill>
            <a:srgbClr val="2EC4B6"/>
          </a:solidFill>
          <a:ln/>
        </p:spPr>
      </p:sp>
      <p:sp>
        <p:nvSpPr>
          <p:cNvPr id="7" name="Text 5"/>
          <p:cNvSpPr txBox="1"/>
          <p:nvPr/>
        </p:nvSpPr>
        <p:spPr>
          <a:xfrm>
            <a:off x="77724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777240" y="2267712"/>
            <a:ext cx="3154680" cy="502920"/>
          </a:xfrm>
          <a:prstGeom prst="rect">
            <a:avLst/>
          </a:prstGeom>
          <a:noFill/>
          <a:ln/>
        </p:spPr>
        <p:txBody>
          <a:bodyPr wrap="square" lIns="0" tIns="0" rIns="0" bIns="0" rtlCol="0" anchor="ctr"/>
          <a:lstStyle/>
          <a:p>
            <a:pPr algn="l" indent="0" marL="0">
              <a:buNone/>
            </a:pPr>
            <a:r>
              <a:rPr lang="en-US" sz="1450" b="1" dirty="0">
                <a:solidFill>
                  <a:srgbClr val="16302F"/>
                </a:solidFill>
                <a:latin typeface="Cambria" pitchFamily="34" charset="0"/>
                <a:ea typeface="Cambria" pitchFamily="34" charset="-122"/>
                <a:cs typeface="Cambria" pitchFamily="34" charset="-120"/>
              </a:rPr>
              <a:t>Faster front-desk workflow</a:t>
            </a:r>
            <a:endParaRPr lang="en-US" sz="1450" dirty="0"/>
          </a:p>
        </p:txBody>
      </p:sp>
      <p:sp>
        <p:nvSpPr>
          <p:cNvPr id="9" name="Text 7"/>
          <p:cNvSpPr txBox="1"/>
          <p:nvPr/>
        </p:nvSpPr>
        <p:spPr>
          <a:xfrm>
            <a:off x="777240" y="2697480"/>
            <a:ext cx="3154680" cy="640080"/>
          </a:xfrm>
          <a:prstGeom prst="rect">
            <a:avLst/>
          </a:prstGeom>
          <a:noFill/>
          <a:ln/>
        </p:spPr>
        <p:txBody>
          <a:bodyPr wrap="square" lIns="0" tIns="0" rIns="0" bIns="0" rtlCol="0" anchor="ctr"/>
          <a:lstStyle/>
          <a:p>
            <a:pPr algn="l" indent="0" marL="0">
              <a:lnSpc>
                <a:spcPct val="115000"/>
              </a:lnSpc>
              <a:buNone/>
            </a:pPr>
            <a:r>
              <a:rPr lang="en-US" sz="1050" dirty="0">
                <a:solidFill>
                  <a:srgbClr val="56736F"/>
                </a:solidFill>
                <a:latin typeface="Calibri" pitchFamily="34" charset="0"/>
                <a:ea typeface="Calibri" pitchFamily="34" charset="-122"/>
                <a:cs typeface="Calibri" pitchFamily="34" charset="-120"/>
              </a:rPr>
              <a:t>Registration, booking and prescriptions happen in a few keystrokes instead of paper registers.</a:t>
            </a:r>
            <a:endParaRPr lang="en-US" sz="1050" dirty="0"/>
          </a:p>
        </p:txBody>
      </p:sp>
      <p:sp>
        <p:nvSpPr>
          <p:cNvPr id="10" name="Shape 8"/>
          <p:cNvSpPr/>
          <p:nvPr/>
        </p:nvSpPr>
        <p:spPr>
          <a:xfrm>
            <a:off x="4343400" y="1463040"/>
            <a:ext cx="3611880" cy="1965960"/>
          </a:xfrm>
          <a:prstGeom prst="roundRect">
            <a:avLst>
              <a:gd name="adj" fmla="val 4651"/>
            </a:avLst>
          </a:prstGeom>
          <a:solidFill>
            <a:srgbClr val="FFFFFF"/>
          </a:solidFill>
          <a:ln/>
          <a:effectLst>
            <a:outerShdw sx="100000" sy="100000" kx="0" ky="0" algn="bl" rotWithShape="0" blurRad="88900" dist="25400" dir="5400000">
              <a:srgbClr val="44544F">
                <a:alpha val="14000"/>
              </a:srgbClr>
            </a:outerShdw>
          </a:effectLst>
        </p:spPr>
      </p:sp>
      <p:sp>
        <p:nvSpPr>
          <p:cNvPr id="11" name="Shape 9"/>
          <p:cNvSpPr/>
          <p:nvPr/>
        </p:nvSpPr>
        <p:spPr>
          <a:xfrm>
            <a:off x="4572000" y="1691640"/>
            <a:ext cx="457200" cy="457200"/>
          </a:xfrm>
          <a:prstGeom prst="ellipse">
            <a:avLst/>
          </a:prstGeom>
          <a:solidFill>
            <a:srgbClr val="FF7A59"/>
          </a:solidFill>
          <a:ln/>
        </p:spPr>
      </p:sp>
      <p:sp>
        <p:nvSpPr>
          <p:cNvPr id="12" name="Text 10"/>
          <p:cNvSpPr txBox="1"/>
          <p:nvPr/>
        </p:nvSpPr>
        <p:spPr>
          <a:xfrm>
            <a:off x="457200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4572000" y="2267712"/>
            <a:ext cx="3154680" cy="502920"/>
          </a:xfrm>
          <a:prstGeom prst="rect">
            <a:avLst/>
          </a:prstGeom>
          <a:noFill/>
          <a:ln/>
        </p:spPr>
        <p:txBody>
          <a:bodyPr wrap="square" lIns="0" tIns="0" rIns="0" bIns="0" rtlCol="0" anchor="ctr"/>
          <a:lstStyle/>
          <a:p>
            <a:pPr algn="l" indent="0" marL="0">
              <a:buNone/>
            </a:pPr>
            <a:r>
              <a:rPr lang="en-US" sz="1450" b="1" dirty="0">
                <a:solidFill>
                  <a:srgbClr val="16302F"/>
                </a:solidFill>
                <a:latin typeface="Cambria" pitchFamily="34" charset="0"/>
                <a:ea typeface="Cambria" pitchFamily="34" charset="-122"/>
                <a:cs typeface="Cambria" pitchFamily="34" charset="-120"/>
              </a:rPr>
              <a:t>Fewer double-bookings</a:t>
            </a:r>
            <a:endParaRPr lang="en-US" sz="1450" dirty="0"/>
          </a:p>
        </p:txBody>
      </p:sp>
      <p:sp>
        <p:nvSpPr>
          <p:cNvPr id="14" name="Text 12"/>
          <p:cNvSpPr txBox="1"/>
          <p:nvPr/>
        </p:nvSpPr>
        <p:spPr>
          <a:xfrm>
            <a:off x="4572000" y="2697480"/>
            <a:ext cx="3154680" cy="640080"/>
          </a:xfrm>
          <a:prstGeom prst="rect">
            <a:avLst/>
          </a:prstGeom>
          <a:noFill/>
          <a:ln/>
        </p:spPr>
        <p:txBody>
          <a:bodyPr wrap="square" lIns="0" tIns="0" rIns="0" bIns="0" rtlCol="0" anchor="ctr"/>
          <a:lstStyle/>
          <a:p>
            <a:pPr algn="l" indent="0" marL="0">
              <a:lnSpc>
                <a:spcPct val="115000"/>
              </a:lnSpc>
              <a:buNone/>
            </a:pPr>
            <a:r>
              <a:rPr lang="en-US" sz="1050" dirty="0">
                <a:solidFill>
                  <a:srgbClr val="56736F"/>
                </a:solidFill>
                <a:latin typeface="Calibri" pitchFamily="34" charset="0"/>
                <a:ea typeface="Calibri" pitchFamily="34" charset="-122"/>
                <a:cs typeface="Calibri" pitchFamily="34" charset="-120"/>
              </a:rPr>
              <a:t>Each doctor's daily slots are tracked in real time, so a taken slot can never be booked twice.</a:t>
            </a:r>
            <a:endParaRPr lang="en-US" sz="1050" dirty="0"/>
          </a:p>
        </p:txBody>
      </p:sp>
      <p:sp>
        <p:nvSpPr>
          <p:cNvPr id="15" name="Shape 13"/>
          <p:cNvSpPr/>
          <p:nvPr/>
        </p:nvSpPr>
        <p:spPr>
          <a:xfrm>
            <a:off x="8138160" y="1463040"/>
            <a:ext cx="3611880" cy="1965960"/>
          </a:xfrm>
          <a:prstGeom prst="roundRect">
            <a:avLst>
              <a:gd name="adj" fmla="val 4651"/>
            </a:avLst>
          </a:prstGeom>
          <a:solidFill>
            <a:srgbClr val="FFFFFF"/>
          </a:solidFill>
          <a:ln/>
          <a:effectLst>
            <a:outerShdw sx="100000" sy="100000" kx="0" ky="0" algn="bl" rotWithShape="0" blurRad="88900" dist="25400" dir="5400000">
              <a:srgbClr val="44544F">
                <a:alpha val="14000"/>
              </a:srgbClr>
            </a:outerShdw>
          </a:effectLst>
        </p:spPr>
      </p:sp>
      <p:sp>
        <p:nvSpPr>
          <p:cNvPr id="16" name="Shape 14"/>
          <p:cNvSpPr/>
          <p:nvPr/>
        </p:nvSpPr>
        <p:spPr>
          <a:xfrm>
            <a:off x="8366760" y="1691640"/>
            <a:ext cx="457200" cy="457200"/>
          </a:xfrm>
          <a:prstGeom prst="ellipse">
            <a:avLst/>
          </a:prstGeom>
          <a:solidFill>
            <a:srgbClr val="2EC4B6"/>
          </a:solidFill>
          <a:ln/>
        </p:spPr>
      </p:sp>
      <p:sp>
        <p:nvSpPr>
          <p:cNvPr id="17" name="Text 15"/>
          <p:cNvSpPr txBox="1"/>
          <p:nvPr/>
        </p:nvSpPr>
        <p:spPr>
          <a:xfrm>
            <a:off x="836676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txBox="1"/>
          <p:nvPr/>
        </p:nvSpPr>
        <p:spPr>
          <a:xfrm>
            <a:off x="8366760" y="2267712"/>
            <a:ext cx="3154680" cy="502920"/>
          </a:xfrm>
          <a:prstGeom prst="rect">
            <a:avLst/>
          </a:prstGeom>
          <a:noFill/>
          <a:ln/>
        </p:spPr>
        <p:txBody>
          <a:bodyPr wrap="square" lIns="0" tIns="0" rIns="0" bIns="0" rtlCol="0" anchor="ctr"/>
          <a:lstStyle/>
          <a:p>
            <a:pPr algn="l" indent="0" marL="0">
              <a:buNone/>
            </a:pPr>
            <a:r>
              <a:rPr lang="en-US" sz="1450" b="1" dirty="0">
                <a:solidFill>
                  <a:srgbClr val="16302F"/>
                </a:solidFill>
                <a:latin typeface="Cambria" pitchFamily="34" charset="0"/>
                <a:ea typeface="Cambria" pitchFamily="34" charset="-122"/>
                <a:cs typeface="Cambria" pitchFamily="34" charset="-120"/>
              </a:rPr>
              <a:t>Reliable record keeping</a:t>
            </a:r>
            <a:endParaRPr lang="en-US" sz="1450" dirty="0"/>
          </a:p>
        </p:txBody>
      </p:sp>
      <p:sp>
        <p:nvSpPr>
          <p:cNvPr id="19" name="Text 17"/>
          <p:cNvSpPr txBox="1"/>
          <p:nvPr/>
        </p:nvSpPr>
        <p:spPr>
          <a:xfrm>
            <a:off x="8366760" y="2697480"/>
            <a:ext cx="3154680" cy="640080"/>
          </a:xfrm>
          <a:prstGeom prst="rect">
            <a:avLst/>
          </a:prstGeom>
          <a:noFill/>
          <a:ln/>
        </p:spPr>
        <p:txBody>
          <a:bodyPr wrap="square" lIns="0" tIns="0" rIns="0" bIns="0" rtlCol="0" anchor="ctr"/>
          <a:lstStyle/>
          <a:p>
            <a:pPr algn="l" indent="0" marL="0">
              <a:lnSpc>
                <a:spcPct val="115000"/>
              </a:lnSpc>
              <a:buNone/>
            </a:pPr>
            <a:r>
              <a:rPr lang="en-US" sz="1050" dirty="0">
                <a:solidFill>
                  <a:srgbClr val="56736F"/>
                </a:solidFill>
                <a:latin typeface="Calibri" pitchFamily="34" charset="0"/>
                <a:ea typeface="Calibri" pitchFamily="34" charset="-122"/>
                <a:cs typeface="Calibri" pitchFamily="34" charset="-120"/>
              </a:rPr>
              <a:t>Appointments persist to disk via file I/O, so data survives a restart of the program.</a:t>
            </a:r>
            <a:endParaRPr lang="en-US" sz="1050" dirty="0"/>
          </a:p>
        </p:txBody>
      </p:sp>
      <p:sp>
        <p:nvSpPr>
          <p:cNvPr id="20" name="Shape 18"/>
          <p:cNvSpPr/>
          <p:nvPr/>
        </p:nvSpPr>
        <p:spPr>
          <a:xfrm>
            <a:off x="548640" y="3657600"/>
            <a:ext cx="3611880" cy="1965960"/>
          </a:xfrm>
          <a:prstGeom prst="roundRect">
            <a:avLst>
              <a:gd name="adj" fmla="val 4651"/>
            </a:avLst>
          </a:prstGeom>
          <a:solidFill>
            <a:srgbClr val="FFFFFF"/>
          </a:solidFill>
          <a:ln/>
          <a:effectLst>
            <a:outerShdw sx="100000" sy="100000" kx="0" ky="0" algn="bl" rotWithShape="0" blurRad="88900" dist="25400" dir="5400000">
              <a:srgbClr val="44544F">
                <a:alpha val="14000"/>
              </a:srgbClr>
            </a:outerShdw>
          </a:effectLst>
        </p:spPr>
      </p:sp>
      <p:sp>
        <p:nvSpPr>
          <p:cNvPr id="21" name="Shape 19"/>
          <p:cNvSpPr/>
          <p:nvPr/>
        </p:nvSpPr>
        <p:spPr>
          <a:xfrm>
            <a:off x="777240" y="3886200"/>
            <a:ext cx="457200" cy="457200"/>
          </a:xfrm>
          <a:prstGeom prst="ellipse">
            <a:avLst/>
          </a:prstGeom>
          <a:solidFill>
            <a:srgbClr val="FF7A59"/>
          </a:solidFill>
          <a:ln/>
        </p:spPr>
      </p:sp>
      <p:sp>
        <p:nvSpPr>
          <p:cNvPr id="22" name="Text 20"/>
          <p:cNvSpPr txBox="1"/>
          <p:nvPr/>
        </p:nvSpPr>
        <p:spPr>
          <a:xfrm>
            <a:off x="777240" y="3886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3" name="Text 21"/>
          <p:cNvSpPr txBox="1"/>
          <p:nvPr/>
        </p:nvSpPr>
        <p:spPr>
          <a:xfrm>
            <a:off x="777240" y="4462272"/>
            <a:ext cx="3154680" cy="502920"/>
          </a:xfrm>
          <a:prstGeom prst="rect">
            <a:avLst/>
          </a:prstGeom>
          <a:noFill/>
          <a:ln/>
        </p:spPr>
        <p:txBody>
          <a:bodyPr wrap="square" lIns="0" tIns="0" rIns="0" bIns="0" rtlCol="0" anchor="ctr"/>
          <a:lstStyle/>
          <a:p>
            <a:pPr algn="l" indent="0" marL="0">
              <a:buNone/>
            </a:pPr>
            <a:r>
              <a:rPr lang="en-US" sz="1450" b="1" dirty="0">
                <a:solidFill>
                  <a:srgbClr val="16302F"/>
                </a:solidFill>
                <a:latin typeface="Cambria" pitchFamily="34" charset="0"/>
                <a:ea typeface="Cambria" pitchFamily="34" charset="-122"/>
                <a:cs typeface="Cambria" pitchFamily="34" charset="-120"/>
              </a:rPr>
              <a:t>Instant analytics</a:t>
            </a:r>
            <a:endParaRPr lang="en-US" sz="1450" dirty="0"/>
          </a:p>
        </p:txBody>
      </p:sp>
      <p:sp>
        <p:nvSpPr>
          <p:cNvPr id="24" name="Text 22"/>
          <p:cNvSpPr txBox="1"/>
          <p:nvPr/>
        </p:nvSpPr>
        <p:spPr>
          <a:xfrm>
            <a:off x="777240" y="4892040"/>
            <a:ext cx="3154680" cy="640080"/>
          </a:xfrm>
          <a:prstGeom prst="rect">
            <a:avLst/>
          </a:prstGeom>
          <a:noFill/>
          <a:ln/>
        </p:spPr>
        <p:txBody>
          <a:bodyPr wrap="square" lIns="0" tIns="0" rIns="0" bIns="0" rtlCol="0" anchor="ctr"/>
          <a:lstStyle/>
          <a:p>
            <a:pPr algn="l" indent="0" marL="0">
              <a:lnSpc>
                <a:spcPct val="115000"/>
              </a:lnSpc>
              <a:buNone/>
            </a:pPr>
            <a:r>
              <a:rPr lang="en-US" sz="1050" dirty="0">
                <a:solidFill>
                  <a:srgbClr val="56736F"/>
                </a:solidFill>
                <a:latin typeface="Calibri" pitchFamily="34" charset="0"/>
                <a:ea typeface="Calibri" pitchFamily="34" charset="-122"/>
                <a:cs typeface="Calibri" pitchFamily="34" charset="-120"/>
              </a:rPr>
              <a:t>Stream pipelines generate per-doctor load, patient demographics and averages on demand.</a:t>
            </a:r>
            <a:endParaRPr lang="en-US" sz="1050" dirty="0"/>
          </a:p>
        </p:txBody>
      </p:sp>
      <p:sp>
        <p:nvSpPr>
          <p:cNvPr id="25" name="Shape 23"/>
          <p:cNvSpPr/>
          <p:nvPr/>
        </p:nvSpPr>
        <p:spPr>
          <a:xfrm>
            <a:off x="4343400" y="3657600"/>
            <a:ext cx="3611880" cy="1965960"/>
          </a:xfrm>
          <a:prstGeom prst="roundRect">
            <a:avLst>
              <a:gd name="adj" fmla="val 4651"/>
            </a:avLst>
          </a:prstGeom>
          <a:solidFill>
            <a:srgbClr val="FFFFFF"/>
          </a:solidFill>
          <a:ln/>
          <a:effectLst>
            <a:outerShdw sx="100000" sy="100000" kx="0" ky="0" algn="bl" rotWithShape="0" blurRad="88900" dist="25400" dir="5400000">
              <a:srgbClr val="44544F">
                <a:alpha val="14000"/>
              </a:srgbClr>
            </a:outerShdw>
          </a:effectLst>
        </p:spPr>
      </p:sp>
      <p:sp>
        <p:nvSpPr>
          <p:cNvPr id="26" name="Shape 24"/>
          <p:cNvSpPr/>
          <p:nvPr/>
        </p:nvSpPr>
        <p:spPr>
          <a:xfrm>
            <a:off x="4572000" y="3886200"/>
            <a:ext cx="457200" cy="457200"/>
          </a:xfrm>
          <a:prstGeom prst="ellipse">
            <a:avLst/>
          </a:prstGeom>
          <a:solidFill>
            <a:srgbClr val="2EC4B6"/>
          </a:solidFill>
          <a:ln/>
        </p:spPr>
      </p:sp>
      <p:sp>
        <p:nvSpPr>
          <p:cNvPr id="27" name="Text 25"/>
          <p:cNvSpPr txBox="1"/>
          <p:nvPr/>
        </p:nvSpPr>
        <p:spPr>
          <a:xfrm>
            <a:off x="4572000" y="3886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8" name="Text 26"/>
          <p:cNvSpPr txBox="1"/>
          <p:nvPr/>
        </p:nvSpPr>
        <p:spPr>
          <a:xfrm>
            <a:off x="4572000" y="4462272"/>
            <a:ext cx="3154680" cy="502920"/>
          </a:xfrm>
          <a:prstGeom prst="rect">
            <a:avLst/>
          </a:prstGeom>
          <a:noFill/>
          <a:ln/>
        </p:spPr>
        <p:txBody>
          <a:bodyPr wrap="square" lIns="0" tIns="0" rIns="0" bIns="0" rtlCol="0" anchor="ctr"/>
          <a:lstStyle/>
          <a:p>
            <a:pPr algn="l" indent="0" marL="0">
              <a:buNone/>
            </a:pPr>
            <a:r>
              <a:rPr lang="en-US" sz="1450" b="1" dirty="0">
                <a:solidFill>
                  <a:srgbClr val="16302F"/>
                </a:solidFill>
                <a:latin typeface="Cambria" pitchFamily="34" charset="0"/>
                <a:ea typeface="Cambria" pitchFamily="34" charset="-122"/>
                <a:cs typeface="Cambria" pitchFamily="34" charset="-120"/>
              </a:rPr>
              <a:t>Safer error handling</a:t>
            </a:r>
            <a:endParaRPr lang="en-US" sz="1450" dirty="0"/>
          </a:p>
        </p:txBody>
      </p:sp>
      <p:sp>
        <p:nvSpPr>
          <p:cNvPr id="29" name="Text 27"/>
          <p:cNvSpPr txBox="1"/>
          <p:nvPr/>
        </p:nvSpPr>
        <p:spPr>
          <a:xfrm>
            <a:off x="4572000" y="4892040"/>
            <a:ext cx="3154680" cy="640080"/>
          </a:xfrm>
          <a:prstGeom prst="rect">
            <a:avLst/>
          </a:prstGeom>
          <a:noFill/>
          <a:ln/>
        </p:spPr>
        <p:txBody>
          <a:bodyPr wrap="square" lIns="0" tIns="0" rIns="0" bIns="0" rtlCol="0" anchor="ctr"/>
          <a:lstStyle/>
          <a:p>
            <a:pPr algn="l" indent="0" marL="0">
              <a:lnSpc>
                <a:spcPct val="115000"/>
              </a:lnSpc>
              <a:buNone/>
            </a:pPr>
            <a:r>
              <a:rPr lang="en-US" sz="1050" dirty="0">
                <a:solidFill>
                  <a:srgbClr val="56736F"/>
                </a:solidFill>
                <a:latin typeface="Calibri" pitchFamily="34" charset="0"/>
                <a:ea typeface="Calibri" pitchFamily="34" charset="-122"/>
                <a:cs typeface="Calibri" pitchFamily="34" charset="-120"/>
              </a:rPr>
              <a:t>Custom checked exceptions stop invalid bookings before they corrupt clinic data.</a:t>
            </a:r>
            <a:endParaRPr lang="en-US" sz="1050" dirty="0"/>
          </a:p>
        </p:txBody>
      </p:sp>
      <p:sp>
        <p:nvSpPr>
          <p:cNvPr id="30" name="Shape 28"/>
          <p:cNvSpPr/>
          <p:nvPr/>
        </p:nvSpPr>
        <p:spPr>
          <a:xfrm>
            <a:off x="8138160" y="3657600"/>
            <a:ext cx="3611880" cy="1965960"/>
          </a:xfrm>
          <a:prstGeom prst="roundRect">
            <a:avLst>
              <a:gd name="adj" fmla="val 4651"/>
            </a:avLst>
          </a:prstGeom>
          <a:solidFill>
            <a:srgbClr val="FFFFFF"/>
          </a:solidFill>
          <a:ln/>
          <a:effectLst>
            <a:outerShdw sx="100000" sy="100000" kx="0" ky="0" algn="bl" rotWithShape="0" blurRad="88900" dist="25400" dir="5400000">
              <a:srgbClr val="44544F">
                <a:alpha val="14000"/>
              </a:srgbClr>
            </a:outerShdw>
          </a:effectLst>
        </p:spPr>
      </p:sp>
      <p:sp>
        <p:nvSpPr>
          <p:cNvPr id="31" name="Shape 29"/>
          <p:cNvSpPr/>
          <p:nvPr/>
        </p:nvSpPr>
        <p:spPr>
          <a:xfrm>
            <a:off x="8366760" y="3886200"/>
            <a:ext cx="457200" cy="457200"/>
          </a:xfrm>
          <a:prstGeom prst="ellipse">
            <a:avLst/>
          </a:prstGeom>
          <a:solidFill>
            <a:srgbClr val="FF7A59"/>
          </a:solidFill>
          <a:ln/>
        </p:spPr>
      </p:sp>
      <p:sp>
        <p:nvSpPr>
          <p:cNvPr id="32" name="Text 30"/>
          <p:cNvSpPr txBox="1"/>
          <p:nvPr/>
        </p:nvSpPr>
        <p:spPr>
          <a:xfrm>
            <a:off x="8366760" y="3886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3" name="Text 31"/>
          <p:cNvSpPr txBox="1"/>
          <p:nvPr/>
        </p:nvSpPr>
        <p:spPr>
          <a:xfrm>
            <a:off x="8366760" y="4462272"/>
            <a:ext cx="3154680" cy="502920"/>
          </a:xfrm>
          <a:prstGeom prst="rect">
            <a:avLst/>
          </a:prstGeom>
          <a:noFill/>
          <a:ln/>
        </p:spPr>
        <p:txBody>
          <a:bodyPr wrap="square" lIns="0" tIns="0" rIns="0" bIns="0" rtlCol="0" anchor="ctr"/>
          <a:lstStyle/>
          <a:p>
            <a:pPr algn="l" indent="0" marL="0">
              <a:buNone/>
            </a:pPr>
            <a:r>
              <a:rPr lang="en-US" sz="1450" b="1" dirty="0">
                <a:solidFill>
                  <a:srgbClr val="16302F"/>
                </a:solidFill>
                <a:latin typeface="Cambria" pitchFamily="34" charset="0"/>
                <a:ea typeface="Cambria" pitchFamily="34" charset="-122"/>
                <a:cs typeface="Cambria" pitchFamily="34" charset="-120"/>
              </a:rPr>
              <a:t>Easy to extend</a:t>
            </a:r>
            <a:endParaRPr lang="en-US" sz="1450" dirty="0"/>
          </a:p>
        </p:txBody>
      </p:sp>
      <p:sp>
        <p:nvSpPr>
          <p:cNvPr id="34" name="Text 32"/>
          <p:cNvSpPr txBox="1"/>
          <p:nvPr/>
        </p:nvSpPr>
        <p:spPr>
          <a:xfrm>
            <a:off x="8366760" y="4892040"/>
            <a:ext cx="3154680" cy="640080"/>
          </a:xfrm>
          <a:prstGeom prst="rect">
            <a:avLst/>
          </a:prstGeom>
          <a:noFill/>
          <a:ln/>
        </p:spPr>
        <p:txBody>
          <a:bodyPr wrap="square" lIns="0" tIns="0" rIns="0" bIns="0" rtlCol="0" anchor="ctr"/>
          <a:lstStyle/>
          <a:p>
            <a:pPr algn="l" indent="0" marL="0">
              <a:lnSpc>
                <a:spcPct val="115000"/>
              </a:lnSpc>
              <a:buNone/>
            </a:pPr>
            <a:r>
              <a:rPr lang="en-US" sz="1050" dirty="0">
                <a:solidFill>
                  <a:srgbClr val="56736F"/>
                </a:solidFill>
                <a:latin typeface="Calibri" pitchFamily="34" charset="0"/>
                <a:ea typeface="Calibri" pitchFamily="34" charset="-122"/>
                <a:cs typeface="Calibri" pitchFamily="34" charset="-120"/>
              </a:rPr>
              <a:t>Interfaces and OOP layering make it simple to add billing, SMS reminders or a GUI later.</a:t>
            </a:r>
            <a:endParaRPr lang="en-US" sz="1050" dirty="0"/>
          </a:p>
        </p:txBody>
      </p:sp>
      <p:sp>
        <p:nvSpPr>
          <p:cNvPr id="35" name="Text 3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6736F"/>
                </a:solidFill>
                <a:latin typeface="Calibri" pitchFamily="34" charset="0"/>
                <a:ea typeface="Calibri" pitchFamily="34" charset="-122"/>
                <a:cs typeface="Calibri" pitchFamily="34" charset="-120"/>
              </a:rPr>
              <a:t>Clinic Appointment &amp; Prescription Manager</a:t>
            </a:r>
            <a:endParaRPr lang="en-US" sz="900" dirty="0"/>
          </a:p>
        </p:txBody>
      </p:sp>
      <p:sp>
        <p:nvSpPr>
          <p:cNvPr id="36" name="Text 34"/>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900" dirty="0">
                <a:solidFill>
                  <a:srgbClr val="56736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AF9"/>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4B4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4" name="Text 2"/>
          <p:cNvSpPr txBox="1"/>
          <p:nvPr/>
        </p:nvSpPr>
        <p:spPr>
          <a:xfrm>
            <a:off x="1325880" y="411480"/>
            <a:ext cx="9601200" cy="640080"/>
          </a:xfrm>
          <a:prstGeom prst="rect">
            <a:avLst/>
          </a:prstGeom>
          <a:noFill/>
          <a:ln/>
        </p:spPr>
        <p:txBody>
          <a:bodyPr wrap="square" lIns="0" tIns="0" rIns="0" bIns="0" rtlCol="0" anchor="ctr"/>
          <a:lstStyle/>
          <a:p>
            <a:pPr algn="l" indent="0" marL="0">
              <a:buNone/>
            </a:pPr>
            <a:r>
              <a:rPr lang="en-US" sz="3000" b="1" dirty="0">
                <a:solidFill>
                  <a:srgbClr val="16302F"/>
                </a:solidFill>
                <a:latin typeface="Cambria" pitchFamily="34" charset="0"/>
                <a:ea typeface="Cambria" pitchFamily="34" charset="-122"/>
                <a:cs typeface="Cambria" pitchFamily="34" charset="-120"/>
              </a:rPr>
              <a:t>Implementation Overview</a:t>
            </a:r>
            <a:endParaRPr lang="en-US" sz="3000" dirty="0"/>
          </a:p>
        </p:txBody>
      </p:sp>
      <p:sp>
        <p:nvSpPr>
          <p:cNvPr id="5" name="Shape 3"/>
          <p:cNvSpPr/>
          <p:nvPr/>
        </p:nvSpPr>
        <p:spPr>
          <a:xfrm>
            <a:off x="1325880" y="987552"/>
            <a:ext cx="3262579" cy="310896"/>
          </a:xfrm>
          <a:prstGeom prst="roundRect">
            <a:avLst>
              <a:gd name="adj" fmla="val 50000"/>
            </a:avLst>
          </a:prstGeom>
          <a:solidFill>
            <a:srgbClr val="FF7A59"/>
          </a:solidFill>
          <a:ln/>
        </p:spPr>
      </p:sp>
      <p:sp>
        <p:nvSpPr>
          <p:cNvPr id="6" name="Text 4"/>
          <p:cNvSpPr txBox="1"/>
          <p:nvPr/>
        </p:nvSpPr>
        <p:spPr>
          <a:xfrm>
            <a:off x="1325880" y="987552"/>
            <a:ext cx="3262579"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How the syllabus maps to the project</a:t>
            </a:r>
            <a:endParaRPr lang="en-US" sz="1050" dirty="0"/>
          </a:p>
        </p:txBody>
      </p:sp>
      <p:sp>
        <p:nvSpPr>
          <p:cNvPr id="7" name="Shape 5"/>
          <p:cNvSpPr/>
          <p:nvPr/>
        </p:nvSpPr>
        <p:spPr>
          <a:xfrm>
            <a:off x="548640" y="1508760"/>
            <a:ext cx="11091672" cy="649224"/>
          </a:xfrm>
          <a:prstGeom prst="roundRect">
            <a:avLst>
              <a:gd name="adj" fmla="val 11268"/>
            </a:avLst>
          </a:prstGeom>
          <a:solidFill>
            <a:srgbClr val="FFFFFF"/>
          </a:solidFill>
          <a:ln/>
          <a:effectLst>
            <a:outerShdw sx="100000" sy="100000" kx="0" ky="0" algn="bl" rotWithShape="0" blurRad="63500" dist="25400" dir="5400000">
              <a:srgbClr val="44544F">
                <a:alpha val="12000"/>
              </a:srgbClr>
            </a:outerShdw>
          </a:effectLst>
        </p:spPr>
      </p:sp>
      <p:sp>
        <p:nvSpPr>
          <p:cNvPr id="8" name="Shape 6"/>
          <p:cNvSpPr/>
          <p:nvPr/>
        </p:nvSpPr>
        <p:spPr>
          <a:xfrm>
            <a:off x="548640" y="1508760"/>
            <a:ext cx="1417320" cy="649224"/>
          </a:xfrm>
          <a:prstGeom prst="roundRect">
            <a:avLst>
              <a:gd name="adj" fmla="val 11268"/>
            </a:avLst>
          </a:prstGeom>
          <a:solidFill>
            <a:srgbClr val="0E4B4B"/>
          </a:solidFill>
          <a:ln/>
        </p:spPr>
      </p:sp>
      <p:sp>
        <p:nvSpPr>
          <p:cNvPr id="9" name="Text 7"/>
          <p:cNvSpPr txBox="1"/>
          <p:nvPr/>
        </p:nvSpPr>
        <p:spPr>
          <a:xfrm>
            <a:off x="548640" y="1508760"/>
            <a:ext cx="1417320" cy="6492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Module 1</a:t>
            </a:r>
            <a:endParaRPr lang="en-US" sz="1300" dirty="0"/>
          </a:p>
        </p:txBody>
      </p:sp>
      <p:sp>
        <p:nvSpPr>
          <p:cNvPr id="10" name="Text 8"/>
          <p:cNvSpPr txBox="1"/>
          <p:nvPr/>
        </p:nvSpPr>
        <p:spPr>
          <a:xfrm>
            <a:off x="2148840" y="1563624"/>
            <a:ext cx="2514600" cy="539496"/>
          </a:xfrm>
          <a:prstGeom prst="rect">
            <a:avLst/>
          </a:prstGeom>
          <a:noFill/>
          <a:ln/>
        </p:spPr>
        <p:txBody>
          <a:bodyPr wrap="square" lIns="0" tIns="0" rIns="0" bIns="0" rtlCol="0" anchor="ctr"/>
          <a:lstStyle/>
          <a:p>
            <a:pPr algn="l" indent="0" marL="0">
              <a:buNone/>
            </a:pPr>
            <a:r>
              <a:rPr lang="en-US" sz="1200" b="1" dirty="0">
                <a:solidFill>
                  <a:srgbClr val="16302F"/>
                </a:solidFill>
                <a:latin typeface="Calibri" pitchFamily="34" charset="0"/>
                <a:ea typeface="Calibri" pitchFamily="34" charset="-122"/>
                <a:cs typeface="Calibri" pitchFamily="34" charset="-120"/>
              </a:rPr>
              <a:t>Java Foundations</a:t>
            </a:r>
            <a:endParaRPr lang="en-US" sz="1200" dirty="0"/>
          </a:p>
        </p:txBody>
      </p:sp>
      <p:sp>
        <p:nvSpPr>
          <p:cNvPr id="11" name="Text 9"/>
          <p:cNvSpPr txBox="1"/>
          <p:nvPr/>
        </p:nvSpPr>
        <p:spPr>
          <a:xfrm>
            <a:off x="4754880" y="1563624"/>
            <a:ext cx="3794760" cy="539496"/>
          </a:xfrm>
          <a:prstGeom prst="rect">
            <a:avLst/>
          </a:prstGeom>
          <a:noFill/>
          <a:ln/>
        </p:spPr>
        <p:txBody>
          <a:bodyPr wrap="square" lIns="0" tIns="0" rIns="0" bIns="0" rtlCol="0" anchor="ctr"/>
          <a:lstStyle/>
          <a:p>
            <a:pPr algn="l" indent="0" marL="0">
              <a:buNone/>
            </a:pPr>
            <a:r>
              <a:rPr lang="en-US" sz="1050" dirty="0">
                <a:solidFill>
                  <a:srgbClr val="56736F"/>
                </a:solidFill>
                <a:latin typeface="Calibri" pitchFamily="34" charset="0"/>
                <a:ea typeface="Calibri" pitchFamily="34" charset="-122"/>
                <a:cs typeface="Calibri" pitchFamily="34" charset="-120"/>
              </a:rPr>
              <a:t>Variables, operators, typecasting, Scanner, printf</a:t>
            </a:r>
            <a:endParaRPr lang="en-US" sz="1050" dirty="0"/>
          </a:p>
        </p:txBody>
      </p:sp>
      <p:sp>
        <p:nvSpPr>
          <p:cNvPr id="12" name="Text 10"/>
          <p:cNvSpPr txBox="1"/>
          <p:nvPr/>
        </p:nvSpPr>
        <p:spPr>
          <a:xfrm>
            <a:off x="8641080" y="1563624"/>
            <a:ext cx="2788920" cy="539496"/>
          </a:xfrm>
          <a:prstGeom prst="rect">
            <a:avLst/>
          </a:prstGeom>
          <a:noFill/>
          <a:ln/>
        </p:spPr>
        <p:txBody>
          <a:bodyPr wrap="square" lIns="0" tIns="0" rIns="0" bIns="0" rtlCol="0" anchor="ctr"/>
          <a:lstStyle/>
          <a:p>
            <a:pPr algn="l" indent="0" marL="0">
              <a:buNone/>
            </a:pPr>
            <a:r>
              <a:rPr lang="en-US" sz="900" dirty="0">
                <a:solidFill>
                  <a:srgbClr val="0E4B4B"/>
                </a:solidFill>
                <a:latin typeface="Courier New" pitchFamily="34" charset="0"/>
                <a:ea typeface="Courier New" pitchFamily="34" charset="-122"/>
                <a:cs typeface="Courier New" pitchFamily="34" charset="-120"/>
              </a:rPr>
              <a:t>ClinicApp.java — billing calculator, menu I/O</a:t>
            </a:r>
            <a:endParaRPr lang="en-US" sz="900" dirty="0"/>
          </a:p>
        </p:txBody>
      </p:sp>
      <p:sp>
        <p:nvSpPr>
          <p:cNvPr id="13" name="Shape 11"/>
          <p:cNvSpPr/>
          <p:nvPr/>
        </p:nvSpPr>
        <p:spPr>
          <a:xfrm>
            <a:off x="548640" y="2267712"/>
            <a:ext cx="11091672" cy="649224"/>
          </a:xfrm>
          <a:prstGeom prst="roundRect">
            <a:avLst>
              <a:gd name="adj" fmla="val 11268"/>
            </a:avLst>
          </a:prstGeom>
          <a:solidFill>
            <a:srgbClr val="FFFFFF"/>
          </a:solidFill>
          <a:ln/>
          <a:effectLst>
            <a:outerShdw sx="100000" sy="100000" kx="0" ky="0" algn="bl" rotWithShape="0" blurRad="63500" dist="25400" dir="5400000">
              <a:srgbClr val="44544F">
                <a:alpha val="12000"/>
              </a:srgbClr>
            </a:outerShdw>
          </a:effectLst>
        </p:spPr>
      </p:sp>
      <p:sp>
        <p:nvSpPr>
          <p:cNvPr id="14" name="Shape 12"/>
          <p:cNvSpPr/>
          <p:nvPr/>
        </p:nvSpPr>
        <p:spPr>
          <a:xfrm>
            <a:off x="548640" y="2267712"/>
            <a:ext cx="1417320" cy="649224"/>
          </a:xfrm>
          <a:prstGeom prst="roundRect">
            <a:avLst>
              <a:gd name="adj" fmla="val 11268"/>
            </a:avLst>
          </a:prstGeom>
          <a:solidFill>
            <a:srgbClr val="2EC4B6"/>
          </a:solidFill>
          <a:ln/>
        </p:spPr>
      </p:sp>
      <p:sp>
        <p:nvSpPr>
          <p:cNvPr id="15" name="Text 13"/>
          <p:cNvSpPr txBox="1"/>
          <p:nvPr/>
        </p:nvSpPr>
        <p:spPr>
          <a:xfrm>
            <a:off x="548640" y="2267712"/>
            <a:ext cx="1417320" cy="6492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Module 2</a:t>
            </a:r>
            <a:endParaRPr lang="en-US" sz="1300" dirty="0"/>
          </a:p>
        </p:txBody>
      </p:sp>
      <p:sp>
        <p:nvSpPr>
          <p:cNvPr id="16" name="Text 14"/>
          <p:cNvSpPr txBox="1"/>
          <p:nvPr/>
        </p:nvSpPr>
        <p:spPr>
          <a:xfrm>
            <a:off x="2148840" y="2322576"/>
            <a:ext cx="2514600" cy="539496"/>
          </a:xfrm>
          <a:prstGeom prst="rect">
            <a:avLst/>
          </a:prstGeom>
          <a:noFill/>
          <a:ln/>
        </p:spPr>
        <p:txBody>
          <a:bodyPr wrap="square" lIns="0" tIns="0" rIns="0" bIns="0" rtlCol="0" anchor="ctr"/>
          <a:lstStyle/>
          <a:p>
            <a:pPr algn="l" indent="0" marL="0">
              <a:buNone/>
            </a:pPr>
            <a:r>
              <a:rPr lang="en-US" sz="1200" b="1" dirty="0">
                <a:solidFill>
                  <a:srgbClr val="16302F"/>
                </a:solidFill>
                <a:latin typeface="Calibri" pitchFamily="34" charset="0"/>
                <a:ea typeface="Calibri" pitchFamily="34" charset="-122"/>
                <a:cs typeface="Calibri" pitchFamily="34" charset="-120"/>
              </a:rPr>
              <a:t>Control Flow</a:t>
            </a:r>
            <a:endParaRPr lang="en-US" sz="1200" dirty="0"/>
          </a:p>
        </p:txBody>
      </p:sp>
      <p:sp>
        <p:nvSpPr>
          <p:cNvPr id="17" name="Text 15"/>
          <p:cNvSpPr txBox="1"/>
          <p:nvPr/>
        </p:nvSpPr>
        <p:spPr>
          <a:xfrm>
            <a:off x="4754880" y="2322576"/>
            <a:ext cx="3794760" cy="539496"/>
          </a:xfrm>
          <a:prstGeom prst="rect">
            <a:avLst/>
          </a:prstGeom>
          <a:noFill/>
          <a:ln/>
        </p:spPr>
        <p:txBody>
          <a:bodyPr wrap="square" lIns="0" tIns="0" rIns="0" bIns="0" rtlCol="0" anchor="ctr"/>
          <a:lstStyle/>
          <a:p>
            <a:pPr algn="l" indent="0" marL="0">
              <a:buNone/>
            </a:pPr>
            <a:r>
              <a:rPr lang="en-US" sz="1050" dirty="0">
                <a:solidFill>
                  <a:srgbClr val="56736F"/>
                </a:solidFill>
                <a:latin typeface="Calibri" pitchFamily="34" charset="0"/>
                <a:ea typeface="Calibri" pitchFamily="34" charset="-122"/>
                <a:cs typeface="Calibri" pitchFamily="34" charset="-120"/>
              </a:rPr>
              <a:t>if-else, switch-case, while, for, continue</a:t>
            </a:r>
            <a:endParaRPr lang="en-US" sz="1050" dirty="0"/>
          </a:p>
        </p:txBody>
      </p:sp>
      <p:sp>
        <p:nvSpPr>
          <p:cNvPr id="18" name="Text 16"/>
          <p:cNvSpPr txBox="1"/>
          <p:nvPr/>
        </p:nvSpPr>
        <p:spPr>
          <a:xfrm>
            <a:off x="8641080" y="2322576"/>
            <a:ext cx="2788920" cy="539496"/>
          </a:xfrm>
          <a:prstGeom prst="rect">
            <a:avLst/>
          </a:prstGeom>
          <a:noFill/>
          <a:ln/>
        </p:spPr>
        <p:txBody>
          <a:bodyPr wrap="square" lIns="0" tIns="0" rIns="0" bIns="0" rtlCol="0" anchor="ctr"/>
          <a:lstStyle/>
          <a:p>
            <a:pPr algn="l" indent="0" marL="0">
              <a:buNone/>
            </a:pPr>
            <a:r>
              <a:rPr lang="en-US" sz="900" dirty="0">
                <a:solidFill>
                  <a:srgbClr val="0E4B4B"/>
                </a:solidFill>
                <a:latin typeface="Courier New" pitchFamily="34" charset="0"/>
                <a:ea typeface="Courier New" pitchFamily="34" charset="-122"/>
                <a:cs typeface="Courier New" pitchFamily="34" charset="-120"/>
              </a:rPr>
              <a:t>ClinicApp.java — main menu loop &amp; validation</a:t>
            </a:r>
            <a:endParaRPr lang="en-US" sz="900" dirty="0"/>
          </a:p>
        </p:txBody>
      </p:sp>
      <p:sp>
        <p:nvSpPr>
          <p:cNvPr id="19" name="Shape 17"/>
          <p:cNvSpPr/>
          <p:nvPr/>
        </p:nvSpPr>
        <p:spPr>
          <a:xfrm>
            <a:off x="548640" y="3026664"/>
            <a:ext cx="11091672" cy="649224"/>
          </a:xfrm>
          <a:prstGeom prst="roundRect">
            <a:avLst>
              <a:gd name="adj" fmla="val 11268"/>
            </a:avLst>
          </a:prstGeom>
          <a:solidFill>
            <a:srgbClr val="FFFFFF"/>
          </a:solidFill>
          <a:ln/>
          <a:effectLst>
            <a:outerShdw sx="100000" sy="100000" kx="0" ky="0" algn="bl" rotWithShape="0" blurRad="63500" dist="25400" dir="5400000">
              <a:srgbClr val="44544F">
                <a:alpha val="12000"/>
              </a:srgbClr>
            </a:outerShdw>
          </a:effectLst>
        </p:spPr>
      </p:sp>
      <p:sp>
        <p:nvSpPr>
          <p:cNvPr id="20" name="Shape 18"/>
          <p:cNvSpPr/>
          <p:nvPr/>
        </p:nvSpPr>
        <p:spPr>
          <a:xfrm>
            <a:off x="548640" y="3026664"/>
            <a:ext cx="1417320" cy="649224"/>
          </a:xfrm>
          <a:prstGeom prst="roundRect">
            <a:avLst>
              <a:gd name="adj" fmla="val 11268"/>
            </a:avLst>
          </a:prstGeom>
          <a:solidFill>
            <a:srgbClr val="0E4B4B"/>
          </a:solidFill>
          <a:ln/>
        </p:spPr>
      </p:sp>
      <p:sp>
        <p:nvSpPr>
          <p:cNvPr id="21" name="Text 19"/>
          <p:cNvSpPr txBox="1"/>
          <p:nvPr/>
        </p:nvSpPr>
        <p:spPr>
          <a:xfrm>
            <a:off x="548640" y="3026664"/>
            <a:ext cx="1417320" cy="6492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Module 3</a:t>
            </a:r>
            <a:endParaRPr lang="en-US" sz="1300" dirty="0"/>
          </a:p>
        </p:txBody>
      </p:sp>
      <p:sp>
        <p:nvSpPr>
          <p:cNvPr id="22" name="Text 20"/>
          <p:cNvSpPr txBox="1"/>
          <p:nvPr/>
        </p:nvSpPr>
        <p:spPr>
          <a:xfrm>
            <a:off x="2148840" y="3081528"/>
            <a:ext cx="2514600" cy="539496"/>
          </a:xfrm>
          <a:prstGeom prst="rect">
            <a:avLst/>
          </a:prstGeom>
          <a:noFill/>
          <a:ln/>
        </p:spPr>
        <p:txBody>
          <a:bodyPr wrap="square" lIns="0" tIns="0" rIns="0" bIns="0" rtlCol="0" anchor="ctr"/>
          <a:lstStyle/>
          <a:p>
            <a:pPr algn="l" indent="0" marL="0">
              <a:buNone/>
            </a:pPr>
            <a:r>
              <a:rPr lang="en-US" sz="1200" b="1" dirty="0">
                <a:solidFill>
                  <a:srgbClr val="16302F"/>
                </a:solidFill>
                <a:latin typeface="Calibri" pitchFamily="34" charset="0"/>
                <a:ea typeface="Calibri" pitchFamily="34" charset="-122"/>
                <a:cs typeface="Calibri" pitchFamily="34" charset="-120"/>
              </a:rPr>
              <a:t>Methods, Recursion &amp; Arrays</a:t>
            </a:r>
            <a:endParaRPr lang="en-US" sz="1200" dirty="0"/>
          </a:p>
        </p:txBody>
      </p:sp>
      <p:sp>
        <p:nvSpPr>
          <p:cNvPr id="23" name="Text 21"/>
          <p:cNvSpPr txBox="1"/>
          <p:nvPr/>
        </p:nvSpPr>
        <p:spPr>
          <a:xfrm>
            <a:off x="4754880" y="3081528"/>
            <a:ext cx="3794760" cy="539496"/>
          </a:xfrm>
          <a:prstGeom prst="rect">
            <a:avLst/>
          </a:prstGeom>
          <a:noFill/>
          <a:ln/>
        </p:spPr>
        <p:txBody>
          <a:bodyPr wrap="square" lIns="0" tIns="0" rIns="0" bIns="0" rtlCol="0" anchor="ctr"/>
          <a:lstStyle/>
          <a:p>
            <a:pPr algn="l" indent="0" marL="0">
              <a:buNone/>
            </a:pPr>
            <a:r>
              <a:rPr lang="en-US" sz="1050" dirty="0">
                <a:solidFill>
                  <a:srgbClr val="56736F"/>
                </a:solidFill>
                <a:latin typeface="Calibri" pitchFamily="34" charset="0"/>
                <a:ea typeface="Calibri" pitchFamily="34" charset="-122"/>
                <a:cs typeface="Calibri" pitchFamily="34" charset="-120"/>
              </a:rPr>
              <a:t>Overloading, recursion, 1D/2D arrays</a:t>
            </a:r>
            <a:endParaRPr lang="en-US" sz="1050" dirty="0"/>
          </a:p>
        </p:txBody>
      </p:sp>
      <p:sp>
        <p:nvSpPr>
          <p:cNvPr id="24" name="Text 22"/>
          <p:cNvSpPr txBox="1"/>
          <p:nvPr/>
        </p:nvSpPr>
        <p:spPr>
          <a:xfrm>
            <a:off x="8641080" y="3081528"/>
            <a:ext cx="2788920" cy="539496"/>
          </a:xfrm>
          <a:prstGeom prst="rect">
            <a:avLst/>
          </a:prstGeom>
          <a:noFill/>
          <a:ln/>
        </p:spPr>
        <p:txBody>
          <a:bodyPr wrap="square" lIns="0" tIns="0" rIns="0" bIns="0" rtlCol="0" anchor="ctr"/>
          <a:lstStyle/>
          <a:p>
            <a:pPr algn="l" indent="0" marL="0">
              <a:buNone/>
            </a:pPr>
            <a:r>
              <a:rPr lang="en-US" sz="900" dirty="0">
                <a:solidFill>
                  <a:srgbClr val="0E4B4B"/>
                </a:solidFill>
                <a:latin typeface="Courier New" pitchFamily="34" charset="0"/>
                <a:ea typeface="Courier New" pitchFamily="34" charset="-122"/>
                <a:cs typeface="Courier New" pitchFamily="34" charset="-120"/>
              </a:rPr>
              <a:t>ClinicService.java — recursive search, occupancy matrix</a:t>
            </a:r>
            <a:endParaRPr lang="en-US" sz="900" dirty="0"/>
          </a:p>
        </p:txBody>
      </p:sp>
      <p:sp>
        <p:nvSpPr>
          <p:cNvPr id="25" name="Shape 23"/>
          <p:cNvSpPr/>
          <p:nvPr/>
        </p:nvSpPr>
        <p:spPr>
          <a:xfrm>
            <a:off x="548640" y="3785616"/>
            <a:ext cx="11091672" cy="649224"/>
          </a:xfrm>
          <a:prstGeom prst="roundRect">
            <a:avLst>
              <a:gd name="adj" fmla="val 11268"/>
            </a:avLst>
          </a:prstGeom>
          <a:solidFill>
            <a:srgbClr val="FFFFFF"/>
          </a:solidFill>
          <a:ln/>
          <a:effectLst>
            <a:outerShdw sx="100000" sy="100000" kx="0" ky="0" algn="bl" rotWithShape="0" blurRad="63500" dist="25400" dir="5400000">
              <a:srgbClr val="44544F">
                <a:alpha val="12000"/>
              </a:srgbClr>
            </a:outerShdw>
          </a:effectLst>
        </p:spPr>
      </p:sp>
      <p:sp>
        <p:nvSpPr>
          <p:cNvPr id="26" name="Shape 24"/>
          <p:cNvSpPr/>
          <p:nvPr/>
        </p:nvSpPr>
        <p:spPr>
          <a:xfrm>
            <a:off x="548640" y="3785616"/>
            <a:ext cx="1417320" cy="649224"/>
          </a:xfrm>
          <a:prstGeom prst="roundRect">
            <a:avLst>
              <a:gd name="adj" fmla="val 11268"/>
            </a:avLst>
          </a:prstGeom>
          <a:solidFill>
            <a:srgbClr val="2EC4B6"/>
          </a:solidFill>
          <a:ln/>
        </p:spPr>
      </p:sp>
      <p:sp>
        <p:nvSpPr>
          <p:cNvPr id="27" name="Text 25"/>
          <p:cNvSpPr txBox="1"/>
          <p:nvPr/>
        </p:nvSpPr>
        <p:spPr>
          <a:xfrm>
            <a:off x="548640" y="3785616"/>
            <a:ext cx="1417320" cy="6492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Module 4</a:t>
            </a:r>
            <a:endParaRPr lang="en-US" sz="1300" dirty="0"/>
          </a:p>
        </p:txBody>
      </p:sp>
      <p:sp>
        <p:nvSpPr>
          <p:cNvPr id="28" name="Text 26"/>
          <p:cNvSpPr txBox="1"/>
          <p:nvPr/>
        </p:nvSpPr>
        <p:spPr>
          <a:xfrm>
            <a:off x="2148840" y="3840480"/>
            <a:ext cx="2514600" cy="539496"/>
          </a:xfrm>
          <a:prstGeom prst="rect">
            <a:avLst/>
          </a:prstGeom>
          <a:noFill/>
          <a:ln/>
        </p:spPr>
        <p:txBody>
          <a:bodyPr wrap="square" lIns="0" tIns="0" rIns="0" bIns="0" rtlCol="0" anchor="ctr"/>
          <a:lstStyle/>
          <a:p>
            <a:pPr algn="l" indent="0" marL="0">
              <a:buNone/>
            </a:pPr>
            <a:r>
              <a:rPr lang="en-US" sz="1200" b="1" dirty="0">
                <a:solidFill>
                  <a:srgbClr val="16302F"/>
                </a:solidFill>
                <a:latin typeface="Calibri" pitchFamily="34" charset="0"/>
                <a:ea typeface="Calibri" pitchFamily="34" charset="-122"/>
                <a:cs typeface="Calibri" pitchFamily="34" charset="-120"/>
              </a:rPr>
              <a:t>OOP &amp; Exceptions</a:t>
            </a:r>
            <a:endParaRPr lang="en-US" sz="1200" dirty="0"/>
          </a:p>
        </p:txBody>
      </p:sp>
      <p:sp>
        <p:nvSpPr>
          <p:cNvPr id="29" name="Text 27"/>
          <p:cNvSpPr txBox="1"/>
          <p:nvPr/>
        </p:nvSpPr>
        <p:spPr>
          <a:xfrm>
            <a:off x="4754880" y="3840480"/>
            <a:ext cx="3794760" cy="539496"/>
          </a:xfrm>
          <a:prstGeom prst="rect">
            <a:avLst/>
          </a:prstGeom>
          <a:noFill/>
          <a:ln/>
        </p:spPr>
        <p:txBody>
          <a:bodyPr wrap="square" lIns="0" tIns="0" rIns="0" bIns="0" rtlCol="0" anchor="ctr"/>
          <a:lstStyle/>
          <a:p>
            <a:pPr algn="l" indent="0" marL="0">
              <a:buNone/>
            </a:pPr>
            <a:r>
              <a:rPr lang="en-US" sz="1050" dirty="0">
                <a:solidFill>
                  <a:srgbClr val="56736F"/>
                </a:solidFill>
                <a:latin typeface="Calibri" pitchFamily="34" charset="0"/>
                <a:ea typeface="Calibri" pitchFamily="34" charset="-122"/>
                <a:cs typeface="Calibri" pitchFamily="34" charset="-120"/>
              </a:rPr>
              <a:t>Inheritance, interfaces, encapsulation, try-catch</a:t>
            </a:r>
            <a:endParaRPr lang="en-US" sz="1050" dirty="0"/>
          </a:p>
        </p:txBody>
      </p:sp>
      <p:sp>
        <p:nvSpPr>
          <p:cNvPr id="30" name="Text 28"/>
          <p:cNvSpPr txBox="1"/>
          <p:nvPr/>
        </p:nvSpPr>
        <p:spPr>
          <a:xfrm>
            <a:off x="8641080" y="3840480"/>
            <a:ext cx="2788920" cy="539496"/>
          </a:xfrm>
          <a:prstGeom prst="rect">
            <a:avLst/>
          </a:prstGeom>
          <a:noFill/>
          <a:ln/>
        </p:spPr>
        <p:txBody>
          <a:bodyPr wrap="square" lIns="0" tIns="0" rIns="0" bIns="0" rtlCol="0" anchor="ctr"/>
          <a:lstStyle/>
          <a:p>
            <a:pPr algn="l" indent="0" marL="0">
              <a:buNone/>
            </a:pPr>
            <a:r>
              <a:rPr lang="en-US" sz="900" dirty="0">
                <a:solidFill>
                  <a:srgbClr val="0E4B4B"/>
                </a:solidFill>
                <a:latin typeface="Courier New" pitchFamily="34" charset="0"/>
                <a:ea typeface="Courier New" pitchFamily="34" charset="-122"/>
                <a:cs typeface="Courier New" pitchFamily="34" charset="-120"/>
              </a:rPr>
              <a:t>Person / Doctor / Patient + custom exceptions</a:t>
            </a:r>
            <a:endParaRPr lang="en-US" sz="900" dirty="0"/>
          </a:p>
        </p:txBody>
      </p:sp>
      <p:sp>
        <p:nvSpPr>
          <p:cNvPr id="31" name="Shape 29"/>
          <p:cNvSpPr/>
          <p:nvPr/>
        </p:nvSpPr>
        <p:spPr>
          <a:xfrm>
            <a:off x="548640" y="4544568"/>
            <a:ext cx="11091672" cy="649224"/>
          </a:xfrm>
          <a:prstGeom prst="roundRect">
            <a:avLst>
              <a:gd name="adj" fmla="val 11268"/>
            </a:avLst>
          </a:prstGeom>
          <a:solidFill>
            <a:srgbClr val="FFFFFF"/>
          </a:solidFill>
          <a:ln/>
          <a:effectLst>
            <a:outerShdw sx="100000" sy="100000" kx="0" ky="0" algn="bl" rotWithShape="0" blurRad="63500" dist="25400" dir="5400000">
              <a:srgbClr val="44544F">
                <a:alpha val="12000"/>
              </a:srgbClr>
            </a:outerShdw>
          </a:effectLst>
        </p:spPr>
      </p:sp>
      <p:sp>
        <p:nvSpPr>
          <p:cNvPr id="32" name="Shape 30"/>
          <p:cNvSpPr/>
          <p:nvPr/>
        </p:nvSpPr>
        <p:spPr>
          <a:xfrm>
            <a:off x="548640" y="4544568"/>
            <a:ext cx="1417320" cy="649224"/>
          </a:xfrm>
          <a:prstGeom prst="roundRect">
            <a:avLst>
              <a:gd name="adj" fmla="val 11268"/>
            </a:avLst>
          </a:prstGeom>
          <a:solidFill>
            <a:srgbClr val="0E4B4B"/>
          </a:solidFill>
          <a:ln/>
        </p:spPr>
      </p:sp>
      <p:sp>
        <p:nvSpPr>
          <p:cNvPr id="33" name="Text 31"/>
          <p:cNvSpPr txBox="1"/>
          <p:nvPr/>
        </p:nvSpPr>
        <p:spPr>
          <a:xfrm>
            <a:off x="548640" y="4544568"/>
            <a:ext cx="1417320" cy="6492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Module 5</a:t>
            </a:r>
            <a:endParaRPr lang="en-US" sz="1300" dirty="0"/>
          </a:p>
        </p:txBody>
      </p:sp>
      <p:sp>
        <p:nvSpPr>
          <p:cNvPr id="34" name="Text 32"/>
          <p:cNvSpPr txBox="1"/>
          <p:nvPr/>
        </p:nvSpPr>
        <p:spPr>
          <a:xfrm>
            <a:off x="2148840" y="4599432"/>
            <a:ext cx="2514600" cy="539496"/>
          </a:xfrm>
          <a:prstGeom prst="rect">
            <a:avLst/>
          </a:prstGeom>
          <a:noFill/>
          <a:ln/>
        </p:spPr>
        <p:txBody>
          <a:bodyPr wrap="square" lIns="0" tIns="0" rIns="0" bIns="0" rtlCol="0" anchor="ctr"/>
          <a:lstStyle/>
          <a:p>
            <a:pPr algn="l" indent="0" marL="0">
              <a:buNone/>
            </a:pPr>
            <a:r>
              <a:rPr lang="en-US" sz="1200" b="1" dirty="0">
                <a:solidFill>
                  <a:srgbClr val="16302F"/>
                </a:solidFill>
                <a:latin typeface="Calibri" pitchFamily="34" charset="0"/>
                <a:ea typeface="Calibri" pitchFamily="34" charset="-122"/>
                <a:cs typeface="Calibri" pitchFamily="34" charset="-120"/>
              </a:rPr>
              <a:t>Strings &amp; File I/O</a:t>
            </a:r>
            <a:endParaRPr lang="en-US" sz="1200" dirty="0"/>
          </a:p>
        </p:txBody>
      </p:sp>
      <p:sp>
        <p:nvSpPr>
          <p:cNvPr id="35" name="Text 33"/>
          <p:cNvSpPr txBox="1"/>
          <p:nvPr/>
        </p:nvSpPr>
        <p:spPr>
          <a:xfrm>
            <a:off x="4754880" y="4599432"/>
            <a:ext cx="3794760" cy="539496"/>
          </a:xfrm>
          <a:prstGeom prst="rect">
            <a:avLst/>
          </a:prstGeom>
          <a:noFill/>
          <a:ln/>
        </p:spPr>
        <p:txBody>
          <a:bodyPr wrap="square" lIns="0" tIns="0" rIns="0" bIns="0" rtlCol="0" anchor="ctr"/>
          <a:lstStyle/>
          <a:p>
            <a:pPr algn="l" indent="0" marL="0">
              <a:buNone/>
            </a:pPr>
            <a:r>
              <a:rPr lang="en-US" sz="1050" dirty="0">
                <a:solidFill>
                  <a:srgbClr val="56736F"/>
                </a:solidFill>
                <a:latin typeface="Calibri" pitchFamily="34" charset="0"/>
                <a:ea typeface="Calibri" pitchFamily="34" charset="-122"/>
                <a:cs typeface="Calibri" pitchFamily="34" charset="-120"/>
              </a:rPr>
              <a:t>StringBuilder, Comparable, java.nio.file</a:t>
            </a:r>
            <a:endParaRPr lang="en-US" sz="1050" dirty="0"/>
          </a:p>
        </p:txBody>
      </p:sp>
      <p:sp>
        <p:nvSpPr>
          <p:cNvPr id="36" name="Text 34"/>
          <p:cNvSpPr txBox="1"/>
          <p:nvPr/>
        </p:nvSpPr>
        <p:spPr>
          <a:xfrm>
            <a:off x="8641080" y="4599432"/>
            <a:ext cx="2788920" cy="539496"/>
          </a:xfrm>
          <a:prstGeom prst="rect">
            <a:avLst/>
          </a:prstGeom>
          <a:noFill/>
          <a:ln/>
        </p:spPr>
        <p:txBody>
          <a:bodyPr wrap="square" lIns="0" tIns="0" rIns="0" bIns="0" rtlCol="0" anchor="ctr"/>
          <a:lstStyle/>
          <a:p>
            <a:pPr algn="l" indent="0" marL="0">
              <a:buNone/>
            </a:pPr>
            <a:r>
              <a:rPr lang="en-US" sz="900" dirty="0">
                <a:solidFill>
                  <a:srgbClr val="0E4B4B"/>
                </a:solidFill>
                <a:latin typeface="Courier New" pitchFamily="34" charset="0"/>
                <a:ea typeface="Courier New" pitchFamily="34" charset="-122"/>
                <a:cs typeface="Courier New" pitchFamily="34" charset="-120"/>
              </a:rPr>
              <a:t>Appointment.java, Prescription.java, ClinicService.java</a:t>
            </a:r>
            <a:endParaRPr lang="en-US" sz="900" dirty="0"/>
          </a:p>
        </p:txBody>
      </p:sp>
      <p:sp>
        <p:nvSpPr>
          <p:cNvPr id="37" name="Shape 35"/>
          <p:cNvSpPr/>
          <p:nvPr/>
        </p:nvSpPr>
        <p:spPr>
          <a:xfrm>
            <a:off x="548640" y="5303520"/>
            <a:ext cx="11091672" cy="649224"/>
          </a:xfrm>
          <a:prstGeom prst="roundRect">
            <a:avLst>
              <a:gd name="adj" fmla="val 11268"/>
            </a:avLst>
          </a:prstGeom>
          <a:solidFill>
            <a:srgbClr val="FFFFFF"/>
          </a:solidFill>
          <a:ln/>
          <a:effectLst>
            <a:outerShdw sx="100000" sy="100000" kx="0" ky="0" algn="bl" rotWithShape="0" blurRad="63500" dist="25400" dir="5400000">
              <a:srgbClr val="44544F">
                <a:alpha val="12000"/>
              </a:srgbClr>
            </a:outerShdw>
          </a:effectLst>
        </p:spPr>
      </p:sp>
      <p:sp>
        <p:nvSpPr>
          <p:cNvPr id="38" name="Shape 36"/>
          <p:cNvSpPr/>
          <p:nvPr/>
        </p:nvSpPr>
        <p:spPr>
          <a:xfrm>
            <a:off x="548640" y="5303520"/>
            <a:ext cx="1417320" cy="649224"/>
          </a:xfrm>
          <a:prstGeom prst="roundRect">
            <a:avLst>
              <a:gd name="adj" fmla="val 11268"/>
            </a:avLst>
          </a:prstGeom>
          <a:solidFill>
            <a:srgbClr val="2EC4B6"/>
          </a:solidFill>
          <a:ln/>
        </p:spPr>
      </p:sp>
      <p:sp>
        <p:nvSpPr>
          <p:cNvPr id="39" name="Text 37"/>
          <p:cNvSpPr txBox="1"/>
          <p:nvPr/>
        </p:nvSpPr>
        <p:spPr>
          <a:xfrm>
            <a:off x="548640" y="5303520"/>
            <a:ext cx="1417320" cy="6492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Module 6</a:t>
            </a:r>
            <a:endParaRPr lang="en-US" sz="1300" dirty="0"/>
          </a:p>
        </p:txBody>
      </p:sp>
      <p:sp>
        <p:nvSpPr>
          <p:cNvPr id="40" name="Text 38"/>
          <p:cNvSpPr txBox="1"/>
          <p:nvPr/>
        </p:nvSpPr>
        <p:spPr>
          <a:xfrm>
            <a:off x="2148840" y="5358384"/>
            <a:ext cx="2514600" cy="539496"/>
          </a:xfrm>
          <a:prstGeom prst="rect">
            <a:avLst/>
          </a:prstGeom>
          <a:noFill/>
          <a:ln/>
        </p:spPr>
        <p:txBody>
          <a:bodyPr wrap="square" lIns="0" tIns="0" rIns="0" bIns="0" rtlCol="0" anchor="ctr"/>
          <a:lstStyle/>
          <a:p>
            <a:pPr algn="l" indent="0" marL="0">
              <a:buNone/>
            </a:pPr>
            <a:r>
              <a:rPr lang="en-US" sz="1200" b="1" dirty="0">
                <a:solidFill>
                  <a:srgbClr val="16302F"/>
                </a:solidFill>
                <a:latin typeface="Calibri" pitchFamily="34" charset="0"/>
                <a:ea typeface="Calibri" pitchFamily="34" charset="-122"/>
                <a:cs typeface="Calibri" pitchFamily="34" charset="-120"/>
              </a:rPr>
              <a:t>Collections &amp; Streams</a:t>
            </a:r>
            <a:endParaRPr lang="en-US" sz="1200" dirty="0"/>
          </a:p>
        </p:txBody>
      </p:sp>
      <p:sp>
        <p:nvSpPr>
          <p:cNvPr id="41" name="Text 39"/>
          <p:cNvSpPr txBox="1"/>
          <p:nvPr/>
        </p:nvSpPr>
        <p:spPr>
          <a:xfrm>
            <a:off x="4754880" y="5358384"/>
            <a:ext cx="3794760" cy="539496"/>
          </a:xfrm>
          <a:prstGeom prst="rect">
            <a:avLst/>
          </a:prstGeom>
          <a:noFill/>
          <a:ln/>
        </p:spPr>
        <p:txBody>
          <a:bodyPr wrap="square" lIns="0" tIns="0" rIns="0" bIns="0" rtlCol="0" anchor="ctr"/>
          <a:lstStyle/>
          <a:p>
            <a:pPr algn="l" indent="0" marL="0">
              <a:buNone/>
            </a:pPr>
            <a:r>
              <a:rPr lang="en-US" sz="1050" dirty="0">
                <a:solidFill>
                  <a:srgbClr val="56736F"/>
                </a:solidFill>
                <a:latin typeface="Calibri" pitchFamily="34" charset="0"/>
                <a:ea typeface="Calibri" pitchFamily="34" charset="-122"/>
                <a:cs typeface="Calibri" pitchFamily="34" charset="-120"/>
              </a:rPr>
              <a:t>ArrayList, HashMap, lambdas, Stream pipelines</a:t>
            </a:r>
            <a:endParaRPr lang="en-US" sz="1050" dirty="0"/>
          </a:p>
        </p:txBody>
      </p:sp>
      <p:sp>
        <p:nvSpPr>
          <p:cNvPr id="42" name="Text 40"/>
          <p:cNvSpPr txBox="1"/>
          <p:nvPr/>
        </p:nvSpPr>
        <p:spPr>
          <a:xfrm>
            <a:off x="8641080" y="5358384"/>
            <a:ext cx="2788920" cy="539496"/>
          </a:xfrm>
          <a:prstGeom prst="rect">
            <a:avLst/>
          </a:prstGeom>
          <a:noFill/>
          <a:ln/>
        </p:spPr>
        <p:txBody>
          <a:bodyPr wrap="square" lIns="0" tIns="0" rIns="0" bIns="0" rtlCol="0" anchor="ctr"/>
          <a:lstStyle/>
          <a:p>
            <a:pPr algn="l" indent="0" marL="0">
              <a:buNone/>
            </a:pPr>
            <a:r>
              <a:rPr lang="en-US" sz="900" dirty="0">
                <a:solidFill>
                  <a:srgbClr val="0E4B4B"/>
                </a:solidFill>
                <a:latin typeface="Courier New" pitchFamily="34" charset="0"/>
                <a:ea typeface="Courier New" pitchFamily="34" charset="-122"/>
                <a:cs typeface="Courier New" pitchFamily="34" charset="-120"/>
              </a:rPr>
              <a:t>ClinicService.java — reports &amp; analytics</a:t>
            </a:r>
            <a:endParaRPr lang="en-US" sz="900" dirty="0"/>
          </a:p>
        </p:txBody>
      </p:sp>
      <p:sp>
        <p:nvSpPr>
          <p:cNvPr id="43" name="Text 41"/>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6736F"/>
                </a:solidFill>
                <a:latin typeface="Calibri" pitchFamily="34" charset="0"/>
                <a:ea typeface="Calibri" pitchFamily="34" charset="-122"/>
                <a:cs typeface="Calibri" pitchFamily="34" charset="-120"/>
              </a:rPr>
              <a:t>Clinic Appointment &amp; Prescription Manager</a:t>
            </a:r>
            <a:endParaRPr lang="en-US" sz="900" dirty="0"/>
          </a:p>
        </p:txBody>
      </p:sp>
      <p:sp>
        <p:nvSpPr>
          <p:cNvPr id="44" name="Text 42"/>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900" dirty="0">
                <a:solidFill>
                  <a:srgbClr val="56736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AF9"/>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4B4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4" name="Text 2"/>
          <p:cNvSpPr txBox="1"/>
          <p:nvPr/>
        </p:nvSpPr>
        <p:spPr>
          <a:xfrm>
            <a:off x="1325880" y="411480"/>
            <a:ext cx="9601200" cy="640080"/>
          </a:xfrm>
          <a:prstGeom prst="rect">
            <a:avLst/>
          </a:prstGeom>
          <a:noFill/>
          <a:ln/>
        </p:spPr>
        <p:txBody>
          <a:bodyPr wrap="square" lIns="0" tIns="0" rIns="0" bIns="0" rtlCol="0" anchor="ctr"/>
          <a:lstStyle/>
          <a:p>
            <a:pPr algn="l" indent="0" marL="0">
              <a:buNone/>
            </a:pPr>
            <a:r>
              <a:rPr lang="en-US" sz="3000" b="1" dirty="0">
                <a:solidFill>
                  <a:srgbClr val="16302F"/>
                </a:solidFill>
                <a:latin typeface="Cambria" pitchFamily="34" charset="0"/>
                <a:ea typeface="Cambria" pitchFamily="34" charset="-122"/>
                <a:cs typeface="Cambria" pitchFamily="34" charset="-120"/>
              </a:rPr>
              <a:t>Module 1 — Java Foundations</a:t>
            </a:r>
            <a:endParaRPr lang="en-US" sz="3000" dirty="0"/>
          </a:p>
        </p:txBody>
      </p:sp>
      <p:sp>
        <p:nvSpPr>
          <p:cNvPr id="5" name="Shape 3"/>
          <p:cNvSpPr/>
          <p:nvPr/>
        </p:nvSpPr>
        <p:spPr>
          <a:xfrm>
            <a:off x="1325880" y="987552"/>
            <a:ext cx="3423514" cy="310896"/>
          </a:xfrm>
          <a:prstGeom prst="roundRect">
            <a:avLst>
              <a:gd name="adj" fmla="val 50000"/>
            </a:avLst>
          </a:prstGeom>
          <a:solidFill>
            <a:srgbClr val="FF7A59"/>
          </a:solidFill>
          <a:ln/>
        </p:spPr>
      </p:sp>
      <p:sp>
        <p:nvSpPr>
          <p:cNvPr id="6" name="Text 4"/>
          <p:cNvSpPr txBox="1"/>
          <p:nvPr/>
        </p:nvSpPr>
        <p:spPr>
          <a:xfrm>
            <a:off x="1325880" y="987552"/>
            <a:ext cx="3423514"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Operators, typecasting &amp; formatted I/O</a:t>
            </a:r>
            <a:endParaRPr lang="en-US" sz="1050" dirty="0"/>
          </a:p>
        </p:txBody>
      </p:sp>
      <p:sp>
        <p:nvSpPr>
          <p:cNvPr id="7" name="Shape 5"/>
          <p:cNvSpPr/>
          <p:nvPr/>
        </p:nvSpPr>
        <p:spPr>
          <a:xfrm>
            <a:off x="548640" y="1508760"/>
            <a:ext cx="11091672" cy="365760"/>
          </a:xfrm>
          <a:prstGeom prst="roundRect">
            <a:avLst>
              <a:gd name="adj" fmla="val 20000"/>
            </a:avLst>
          </a:prstGeom>
          <a:solidFill>
            <a:srgbClr val="15151F"/>
          </a:solidFill>
          <a:ln/>
        </p:spPr>
      </p:sp>
      <p:sp>
        <p:nvSpPr>
          <p:cNvPr id="8" name="Shape 6"/>
          <p:cNvSpPr/>
          <p:nvPr/>
        </p:nvSpPr>
        <p:spPr>
          <a:xfrm>
            <a:off x="731520" y="1627632"/>
            <a:ext cx="128016" cy="128016"/>
          </a:xfrm>
          <a:prstGeom prst="ellipse">
            <a:avLst/>
          </a:prstGeom>
          <a:solidFill>
            <a:srgbClr val="E06C75"/>
          </a:solidFill>
          <a:ln/>
        </p:spPr>
      </p:sp>
      <p:sp>
        <p:nvSpPr>
          <p:cNvPr id="9" name="Shape 7"/>
          <p:cNvSpPr/>
          <p:nvPr/>
        </p:nvSpPr>
        <p:spPr>
          <a:xfrm>
            <a:off x="987552" y="1627632"/>
            <a:ext cx="128016" cy="128016"/>
          </a:xfrm>
          <a:prstGeom prst="ellipse">
            <a:avLst/>
          </a:prstGeom>
          <a:solidFill>
            <a:srgbClr val="E5C07B"/>
          </a:solidFill>
          <a:ln/>
        </p:spPr>
      </p:sp>
      <p:sp>
        <p:nvSpPr>
          <p:cNvPr id="10" name="Shape 8"/>
          <p:cNvSpPr/>
          <p:nvPr/>
        </p:nvSpPr>
        <p:spPr>
          <a:xfrm>
            <a:off x="1243584" y="1627632"/>
            <a:ext cx="128016" cy="128016"/>
          </a:xfrm>
          <a:prstGeom prst="ellipse">
            <a:avLst/>
          </a:prstGeom>
          <a:solidFill>
            <a:srgbClr val="98C379"/>
          </a:solidFill>
          <a:ln/>
        </p:spPr>
      </p:sp>
      <p:sp>
        <p:nvSpPr>
          <p:cNvPr id="11" name="Text 9"/>
          <p:cNvSpPr txBox="1"/>
          <p:nvPr/>
        </p:nvSpPr>
        <p:spPr>
          <a:xfrm>
            <a:off x="548640" y="1508760"/>
            <a:ext cx="11091672" cy="365760"/>
          </a:xfrm>
          <a:prstGeom prst="rect">
            <a:avLst/>
          </a:prstGeom>
          <a:noFill/>
          <a:ln/>
        </p:spPr>
        <p:txBody>
          <a:bodyPr wrap="square" lIns="0" tIns="0" rIns="0" bIns="0" rtlCol="0" anchor="ctr"/>
          <a:lstStyle/>
          <a:p>
            <a:pPr algn="ctr" indent="0" marL="0">
              <a:buNone/>
            </a:pPr>
            <a:r>
              <a:rPr lang="en-US" sz="1100" dirty="0">
                <a:solidFill>
                  <a:srgbClr val="9AA5B1"/>
                </a:solidFill>
                <a:latin typeface="Courier New" pitchFamily="34" charset="0"/>
                <a:ea typeface="Courier New" pitchFamily="34" charset="-122"/>
                <a:cs typeface="Courier New" pitchFamily="34" charset="-120"/>
              </a:rPr>
              <a:t>ClinicApp.java — billingCalculatorDemo()</a:t>
            </a:r>
            <a:endParaRPr lang="en-US" sz="1100" dirty="0"/>
          </a:p>
        </p:txBody>
      </p:sp>
      <p:sp>
        <p:nvSpPr>
          <p:cNvPr id="12" name="Shape 10"/>
          <p:cNvSpPr/>
          <p:nvPr/>
        </p:nvSpPr>
        <p:spPr>
          <a:xfrm>
            <a:off x="548640" y="1874520"/>
            <a:ext cx="11091672" cy="4526280"/>
          </a:xfrm>
          <a:prstGeom prst="rect">
            <a:avLst/>
          </a:prstGeom>
          <a:solidFill>
            <a:srgbClr val="1E1E2E"/>
          </a:solidFill>
          <a:ln/>
        </p:spPr>
      </p:sp>
      <p:sp>
        <p:nvSpPr>
          <p:cNvPr id="13" name="Text 11"/>
          <p:cNvSpPr txBox="1"/>
          <p:nvPr/>
        </p:nvSpPr>
        <p:spPr>
          <a:xfrm>
            <a:off x="777240" y="2011680"/>
            <a:ext cx="10634472" cy="4251960"/>
          </a:xfrm>
          <a:prstGeom prst="rect">
            <a:avLst/>
          </a:prstGeom>
          <a:noFill/>
          <a:ln/>
        </p:spPr>
        <p:txBody>
          <a:bodyPr wrap="square" lIns="0" tIns="0" rIns="0" bIns="0" rtlCol="0" anchor="t"/>
          <a:lstStyle/>
          <a:p>
            <a:pPr algn="l" indent="0" marL="0">
              <a:lnSpc>
                <a:spcPct val="112000"/>
              </a:lnSpc>
              <a:buNone/>
            </a:pPr>
            <a:r>
              <a:rPr lang="en-US" sz="1150" dirty="0">
                <a:solidFill>
                  <a:srgbClr val="6A9955"/>
                </a:solidFill>
                <a:latin typeface="Courier New" pitchFamily="34" charset="0"/>
                <a:ea typeface="Courier New" pitchFamily="34" charset="-122"/>
                <a:cs typeface="Courier New" pitchFamily="34" charset="-120"/>
              </a:rPr>
              <a:t>// constants, arithmetic / relational / logical / ternary / bitwise operators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private static final double CONSULTATION_FEE = 500.0;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private static final double MEDICINE_SERVICE_TAX = 0.05;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double medicineCost = medicineCount * 40.0;                 // arithmetic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double subtotal     = CONSULTATION_FEE + medicineCost;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double tax           = subtotal * MEDICINE_SERVICE_TAX;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double discount      = isInsured ? subtotal * 0.20 : 0.0;   // ternary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boolean isBillLarge       = subtotal &gt; 2000;                 // relational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boolean applyLoyaltyBonus = isInsured &amp;&amp; isBillLarge;        // logical AND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double total = subtotal + tax - discount;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int roundedTotal = (int) Math.round(total);                 // typecasting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int flagBits = (isInsured ? 1 : 0) | (isBillLarge ? 2 : 0);  // bitwise OR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int loyaltyFlag = flagBits &amp; 3;                              // bitwise AND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System.out.printf("Total (rounded)   : Rs. %d%n", roundedTotal);</a:t>
            </a:r>
            <a:endParaRPr lang="en-US" sz="1150" dirty="0"/>
          </a:p>
        </p:txBody>
      </p:sp>
      <p:sp>
        <p:nvSpPr>
          <p:cNvPr id="14" name="Text 1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6736F"/>
                </a:solidFill>
                <a:latin typeface="Calibri" pitchFamily="34" charset="0"/>
                <a:ea typeface="Calibri" pitchFamily="34" charset="-122"/>
                <a:cs typeface="Calibri" pitchFamily="34" charset="-120"/>
              </a:rPr>
              <a:t>Implementation Details</a:t>
            </a:r>
            <a:endParaRPr lang="en-US" sz="900" dirty="0"/>
          </a:p>
        </p:txBody>
      </p:sp>
      <p:sp>
        <p:nvSpPr>
          <p:cNvPr id="15" name="Text 1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900" dirty="0">
                <a:solidFill>
                  <a:srgbClr val="56736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AF9"/>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4B4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4" name="Text 2"/>
          <p:cNvSpPr txBox="1"/>
          <p:nvPr/>
        </p:nvSpPr>
        <p:spPr>
          <a:xfrm>
            <a:off x="1325880" y="411480"/>
            <a:ext cx="9601200" cy="640080"/>
          </a:xfrm>
          <a:prstGeom prst="rect">
            <a:avLst/>
          </a:prstGeom>
          <a:noFill/>
          <a:ln/>
        </p:spPr>
        <p:txBody>
          <a:bodyPr wrap="square" lIns="0" tIns="0" rIns="0" bIns="0" rtlCol="0" anchor="ctr"/>
          <a:lstStyle/>
          <a:p>
            <a:pPr algn="l" indent="0" marL="0">
              <a:buNone/>
            </a:pPr>
            <a:r>
              <a:rPr lang="en-US" sz="3000" b="1" dirty="0">
                <a:solidFill>
                  <a:srgbClr val="16302F"/>
                </a:solidFill>
                <a:latin typeface="Cambria" pitchFamily="34" charset="0"/>
                <a:ea typeface="Cambria" pitchFamily="34" charset="-122"/>
                <a:cs typeface="Cambria" pitchFamily="34" charset="-120"/>
              </a:rPr>
              <a:t>Module 2 — Control Flow</a:t>
            </a:r>
            <a:endParaRPr lang="en-US" sz="3000" dirty="0"/>
          </a:p>
        </p:txBody>
      </p:sp>
      <p:sp>
        <p:nvSpPr>
          <p:cNvPr id="5" name="Shape 3"/>
          <p:cNvSpPr/>
          <p:nvPr/>
        </p:nvSpPr>
        <p:spPr>
          <a:xfrm>
            <a:off x="1325880" y="987552"/>
            <a:ext cx="2055571" cy="310896"/>
          </a:xfrm>
          <a:prstGeom prst="roundRect">
            <a:avLst>
              <a:gd name="adj" fmla="val 50000"/>
            </a:avLst>
          </a:prstGeom>
          <a:solidFill>
            <a:srgbClr val="FF7A59"/>
          </a:solidFill>
          <a:ln/>
        </p:spPr>
      </p:sp>
      <p:sp>
        <p:nvSpPr>
          <p:cNvPr id="6" name="Text 4"/>
          <p:cNvSpPr txBox="1"/>
          <p:nvPr/>
        </p:nvSpPr>
        <p:spPr>
          <a:xfrm>
            <a:off x="1325880" y="987552"/>
            <a:ext cx="2055571"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Selection &amp; iteration</a:t>
            </a:r>
            <a:endParaRPr lang="en-US" sz="1050" dirty="0"/>
          </a:p>
        </p:txBody>
      </p:sp>
      <p:sp>
        <p:nvSpPr>
          <p:cNvPr id="7" name="Shape 5"/>
          <p:cNvSpPr/>
          <p:nvPr/>
        </p:nvSpPr>
        <p:spPr>
          <a:xfrm>
            <a:off x="548640" y="1508760"/>
            <a:ext cx="11091672" cy="365760"/>
          </a:xfrm>
          <a:prstGeom prst="roundRect">
            <a:avLst>
              <a:gd name="adj" fmla="val 20000"/>
            </a:avLst>
          </a:prstGeom>
          <a:solidFill>
            <a:srgbClr val="15151F"/>
          </a:solidFill>
          <a:ln/>
        </p:spPr>
      </p:sp>
      <p:sp>
        <p:nvSpPr>
          <p:cNvPr id="8" name="Shape 6"/>
          <p:cNvSpPr/>
          <p:nvPr/>
        </p:nvSpPr>
        <p:spPr>
          <a:xfrm>
            <a:off x="731520" y="1627632"/>
            <a:ext cx="128016" cy="128016"/>
          </a:xfrm>
          <a:prstGeom prst="ellipse">
            <a:avLst/>
          </a:prstGeom>
          <a:solidFill>
            <a:srgbClr val="E06C75"/>
          </a:solidFill>
          <a:ln/>
        </p:spPr>
      </p:sp>
      <p:sp>
        <p:nvSpPr>
          <p:cNvPr id="9" name="Shape 7"/>
          <p:cNvSpPr/>
          <p:nvPr/>
        </p:nvSpPr>
        <p:spPr>
          <a:xfrm>
            <a:off x="987552" y="1627632"/>
            <a:ext cx="128016" cy="128016"/>
          </a:xfrm>
          <a:prstGeom prst="ellipse">
            <a:avLst/>
          </a:prstGeom>
          <a:solidFill>
            <a:srgbClr val="E5C07B"/>
          </a:solidFill>
          <a:ln/>
        </p:spPr>
      </p:sp>
      <p:sp>
        <p:nvSpPr>
          <p:cNvPr id="10" name="Shape 8"/>
          <p:cNvSpPr/>
          <p:nvPr/>
        </p:nvSpPr>
        <p:spPr>
          <a:xfrm>
            <a:off x="1243584" y="1627632"/>
            <a:ext cx="128016" cy="128016"/>
          </a:xfrm>
          <a:prstGeom prst="ellipse">
            <a:avLst/>
          </a:prstGeom>
          <a:solidFill>
            <a:srgbClr val="98C379"/>
          </a:solidFill>
          <a:ln/>
        </p:spPr>
      </p:sp>
      <p:sp>
        <p:nvSpPr>
          <p:cNvPr id="11" name="Text 9"/>
          <p:cNvSpPr txBox="1"/>
          <p:nvPr/>
        </p:nvSpPr>
        <p:spPr>
          <a:xfrm>
            <a:off x="548640" y="1508760"/>
            <a:ext cx="11091672" cy="365760"/>
          </a:xfrm>
          <a:prstGeom prst="rect">
            <a:avLst/>
          </a:prstGeom>
          <a:noFill/>
          <a:ln/>
        </p:spPr>
        <p:txBody>
          <a:bodyPr wrap="square" lIns="0" tIns="0" rIns="0" bIns="0" rtlCol="0" anchor="ctr"/>
          <a:lstStyle/>
          <a:p>
            <a:pPr algn="ctr" indent="0" marL="0">
              <a:buNone/>
            </a:pPr>
            <a:r>
              <a:rPr lang="en-US" sz="1100" dirty="0">
                <a:solidFill>
                  <a:srgbClr val="9AA5B1"/>
                </a:solidFill>
                <a:latin typeface="Courier New" pitchFamily="34" charset="0"/>
                <a:ea typeface="Courier New" pitchFamily="34" charset="-122"/>
                <a:cs typeface="Courier New" pitchFamily="34" charset="-120"/>
              </a:rPr>
              <a:t>ClinicApp.java — main() menu loop</a:t>
            </a:r>
            <a:endParaRPr lang="en-US" sz="1100" dirty="0"/>
          </a:p>
        </p:txBody>
      </p:sp>
      <p:sp>
        <p:nvSpPr>
          <p:cNvPr id="12" name="Shape 10"/>
          <p:cNvSpPr/>
          <p:nvPr/>
        </p:nvSpPr>
        <p:spPr>
          <a:xfrm>
            <a:off x="548640" y="1874520"/>
            <a:ext cx="11091672" cy="4526280"/>
          </a:xfrm>
          <a:prstGeom prst="rect">
            <a:avLst/>
          </a:prstGeom>
          <a:solidFill>
            <a:srgbClr val="1E1E2E"/>
          </a:solidFill>
          <a:ln/>
        </p:spPr>
      </p:sp>
      <p:sp>
        <p:nvSpPr>
          <p:cNvPr id="13" name="Text 11"/>
          <p:cNvSpPr txBox="1"/>
          <p:nvPr/>
        </p:nvSpPr>
        <p:spPr>
          <a:xfrm>
            <a:off x="777240" y="2011680"/>
            <a:ext cx="10634472" cy="4251960"/>
          </a:xfrm>
          <a:prstGeom prst="rect">
            <a:avLst/>
          </a:prstGeom>
          <a:noFill/>
          <a:ln/>
        </p:spPr>
        <p:txBody>
          <a:bodyPr wrap="square" lIns="0" tIns="0" rIns="0" bIns="0" rtlCol="0" anchor="t"/>
          <a:lstStyle/>
          <a:p>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boolean running = true;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while (running) {                              // while loop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    printMenu();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    int choice = readInt("Enter your choice: ");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    switch (choice) {                          // switch-case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        case 1: viewAllDoctors(); break;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        case 3: bookAppointmentFlow(); break;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        case 0: running = false; break;         // exits the while loop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        default: System.out.println("Invalid choice, please try again.");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    }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150" dirty="0">
                <a:solidFill>
                  <a:srgbClr val="6A9955"/>
                </a:solidFill>
                <a:latin typeface="Courier New" pitchFamily="34" charset="0"/>
                <a:ea typeface="Courier New" pitchFamily="34" charset="-122"/>
                <a:cs typeface="Courier New" pitchFamily="34" charset="-120"/>
              </a:rPr>
              <a:t>// nested loop + continue, inside readInt():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while (true) {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    try {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        return Integer.parseInt(scanner.nextLine().trim());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    } catch (NumberFormatException e) {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        System.out.println("Please enter a valid number.");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        continue;                                // re-prompt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    }
</a:t>
            </a:r>
            <a:pPr algn="l" indent="0" marL="0">
              <a:lnSpc>
                <a:spcPct val="112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p:txBody>
      </p:sp>
      <p:sp>
        <p:nvSpPr>
          <p:cNvPr id="14" name="Text 1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6736F"/>
                </a:solidFill>
                <a:latin typeface="Calibri" pitchFamily="34" charset="0"/>
                <a:ea typeface="Calibri" pitchFamily="34" charset="-122"/>
                <a:cs typeface="Calibri" pitchFamily="34" charset="-120"/>
              </a:rPr>
              <a:t>Implementation Details</a:t>
            </a:r>
            <a:endParaRPr lang="en-US" sz="900" dirty="0"/>
          </a:p>
        </p:txBody>
      </p:sp>
      <p:sp>
        <p:nvSpPr>
          <p:cNvPr id="15" name="Text 1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900" dirty="0">
                <a:solidFill>
                  <a:srgbClr val="56736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AF9"/>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4B4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4" name="Text 2"/>
          <p:cNvSpPr txBox="1"/>
          <p:nvPr/>
        </p:nvSpPr>
        <p:spPr>
          <a:xfrm>
            <a:off x="1325880" y="411480"/>
            <a:ext cx="9601200" cy="640080"/>
          </a:xfrm>
          <a:prstGeom prst="rect">
            <a:avLst/>
          </a:prstGeom>
          <a:noFill/>
          <a:ln/>
        </p:spPr>
        <p:txBody>
          <a:bodyPr wrap="square" lIns="0" tIns="0" rIns="0" bIns="0" rtlCol="0" anchor="ctr"/>
          <a:lstStyle/>
          <a:p>
            <a:pPr algn="l" indent="0" marL="0">
              <a:buNone/>
            </a:pPr>
            <a:r>
              <a:rPr lang="en-US" sz="3000" b="1" dirty="0">
                <a:solidFill>
                  <a:srgbClr val="16302F"/>
                </a:solidFill>
                <a:latin typeface="Cambria" pitchFamily="34" charset="0"/>
                <a:ea typeface="Cambria" pitchFamily="34" charset="-122"/>
                <a:cs typeface="Cambria" pitchFamily="34" charset="-120"/>
              </a:rPr>
              <a:t>Module 3 — Methods, Recursion &amp; Arrays</a:t>
            </a:r>
            <a:endParaRPr lang="en-US" sz="3000" dirty="0"/>
          </a:p>
        </p:txBody>
      </p:sp>
      <p:sp>
        <p:nvSpPr>
          <p:cNvPr id="5" name="Shape 3"/>
          <p:cNvSpPr/>
          <p:nvPr/>
        </p:nvSpPr>
        <p:spPr>
          <a:xfrm>
            <a:off x="1325880" y="987552"/>
            <a:ext cx="3262579" cy="310896"/>
          </a:xfrm>
          <a:prstGeom prst="roundRect">
            <a:avLst>
              <a:gd name="adj" fmla="val 50000"/>
            </a:avLst>
          </a:prstGeom>
          <a:solidFill>
            <a:srgbClr val="FF7A59"/>
          </a:solidFill>
          <a:ln/>
        </p:spPr>
      </p:sp>
      <p:sp>
        <p:nvSpPr>
          <p:cNvPr id="6" name="Text 4"/>
          <p:cNvSpPr txBox="1"/>
          <p:nvPr/>
        </p:nvSpPr>
        <p:spPr>
          <a:xfrm>
            <a:off x="1325880" y="987552"/>
            <a:ext cx="3262579"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Overloading, recursion, 1D/2D arrays</a:t>
            </a:r>
            <a:endParaRPr lang="en-US" sz="1050" dirty="0"/>
          </a:p>
        </p:txBody>
      </p:sp>
      <p:sp>
        <p:nvSpPr>
          <p:cNvPr id="7" name="Shape 5"/>
          <p:cNvSpPr/>
          <p:nvPr/>
        </p:nvSpPr>
        <p:spPr>
          <a:xfrm>
            <a:off x="548640" y="1508760"/>
            <a:ext cx="11091672" cy="365760"/>
          </a:xfrm>
          <a:prstGeom prst="roundRect">
            <a:avLst>
              <a:gd name="adj" fmla="val 20000"/>
            </a:avLst>
          </a:prstGeom>
          <a:solidFill>
            <a:srgbClr val="15151F"/>
          </a:solidFill>
          <a:ln/>
        </p:spPr>
      </p:sp>
      <p:sp>
        <p:nvSpPr>
          <p:cNvPr id="8" name="Shape 6"/>
          <p:cNvSpPr/>
          <p:nvPr/>
        </p:nvSpPr>
        <p:spPr>
          <a:xfrm>
            <a:off x="731520" y="1627632"/>
            <a:ext cx="128016" cy="128016"/>
          </a:xfrm>
          <a:prstGeom prst="ellipse">
            <a:avLst/>
          </a:prstGeom>
          <a:solidFill>
            <a:srgbClr val="E06C75"/>
          </a:solidFill>
          <a:ln/>
        </p:spPr>
      </p:sp>
      <p:sp>
        <p:nvSpPr>
          <p:cNvPr id="9" name="Shape 7"/>
          <p:cNvSpPr/>
          <p:nvPr/>
        </p:nvSpPr>
        <p:spPr>
          <a:xfrm>
            <a:off x="987552" y="1627632"/>
            <a:ext cx="128016" cy="128016"/>
          </a:xfrm>
          <a:prstGeom prst="ellipse">
            <a:avLst/>
          </a:prstGeom>
          <a:solidFill>
            <a:srgbClr val="E5C07B"/>
          </a:solidFill>
          <a:ln/>
        </p:spPr>
      </p:sp>
      <p:sp>
        <p:nvSpPr>
          <p:cNvPr id="10" name="Shape 8"/>
          <p:cNvSpPr/>
          <p:nvPr/>
        </p:nvSpPr>
        <p:spPr>
          <a:xfrm>
            <a:off x="1243584" y="1627632"/>
            <a:ext cx="128016" cy="128016"/>
          </a:xfrm>
          <a:prstGeom prst="ellipse">
            <a:avLst/>
          </a:prstGeom>
          <a:solidFill>
            <a:srgbClr val="98C379"/>
          </a:solidFill>
          <a:ln/>
        </p:spPr>
      </p:sp>
      <p:sp>
        <p:nvSpPr>
          <p:cNvPr id="11" name="Text 9"/>
          <p:cNvSpPr txBox="1"/>
          <p:nvPr/>
        </p:nvSpPr>
        <p:spPr>
          <a:xfrm>
            <a:off x="548640" y="1508760"/>
            <a:ext cx="11091672" cy="365760"/>
          </a:xfrm>
          <a:prstGeom prst="rect">
            <a:avLst/>
          </a:prstGeom>
          <a:noFill/>
          <a:ln/>
        </p:spPr>
        <p:txBody>
          <a:bodyPr wrap="square" lIns="0" tIns="0" rIns="0" bIns="0" rtlCol="0" anchor="ctr"/>
          <a:lstStyle/>
          <a:p>
            <a:pPr algn="ctr" indent="0" marL="0">
              <a:buNone/>
            </a:pPr>
            <a:r>
              <a:rPr lang="en-US" sz="1100" dirty="0">
                <a:solidFill>
                  <a:srgbClr val="9AA5B1"/>
                </a:solidFill>
                <a:latin typeface="Courier New" pitchFamily="34" charset="0"/>
                <a:ea typeface="Courier New" pitchFamily="34" charset="-122"/>
                <a:cs typeface="Courier New" pitchFamily="34" charset="-120"/>
              </a:rPr>
              <a:t>ClinicService.java</a:t>
            </a:r>
            <a:endParaRPr lang="en-US" sz="1100" dirty="0"/>
          </a:p>
        </p:txBody>
      </p:sp>
      <p:sp>
        <p:nvSpPr>
          <p:cNvPr id="12" name="Shape 10"/>
          <p:cNvSpPr/>
          <p:nvPr/>
        </p:nvSpPr>
        <p:spPr>
          <a:xfrm>
            <a:off x="548640" y="1874520"/>
            <a:ext cx="11091672" cy="4526280"/>
          </a:xfrm>
          <a:prstGeom prst="rect">
            <a:avLst/>
          </a:prstGeom>
          <a:solidFill>
            <a:srgbClr val="1E1E2E"/>
          </a:solidFill>
          <a:ln/>
        </p:spPr>
      </p:sp>
      <p:sp>
        <p:nvSpPr>
          <p:cNvPr id="13" name="Text 11"/>
          <p:cNvSpPr txBox="1"/>
          <p:nvPr/>
        </p:nvSpPr>
        <p:spPr>
          <a:xfrm>
            <a:off x="777240" y="2011680"/>
            <a:ext cx="10634472" cy="4251960"/>
          </a:xfrm>
          <a:prstGeom prst="rect">
            <a:avLst/>
          </a:prstGeom>
          <a:noFill/>
          <a:ln/>
        </p:spPr>
        <p:txBody>
          <a:bodyPr wrap="square" lIns="0" tIns="0" rIns="0" bIns="0" rtlCol="0" anchor="t"/>
          <a:lstStyle/>
          <a:p>
            <a:pPr algn="l" indent="0" marL="0">
              <a:lnSpc>
                <a:spcPct val="112000"/>
              </a:lnSpc>
              <a:buNone/>
            </a:pPr>
            <a:r>
              <a:rPr lang="en-US" sz="1050" dirty="0">
                <a:solidFill>
                  <a:srgbClr val="6A9955"/>
                </a:solidFill>
                <a:latin typeface="Courier New" pitchFamily="34" charset="0"/>
                <a:ea typeface="Courier New" pitchFamily="34" charset="-122"/>
                <a:cs typeface="Courier New" pitchFamily="34" charset="-120"/>
              </a:rPr>
              <a:t>// recursion: base case + recursive case (binary search on sorted IDs)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public int recursiveBinarySearch(String[] ids, String target, int lo, int hi) {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    if (lo &gt; hi) return -1;                       // base case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    int mid = lo + (hi - lo) / 2;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    int cmp = ids[mid].compareTo(target);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    if (cmp == 0) return mid;                     // base case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    return cmp &lt; 0 ? recursiveBinarySearch(ids, target, mid + 1, hi)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                   : recursiveBinarySearch(ids, target, lo, mid - 1);  // recursive case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050" dirty="0">
                <a:solidFill>
                  <a:srgbClr val="6A9955"/>
                </a:solidFill>
                <a:latin typeface="Courier New" pitchFamily="34" charset="0"/>
                <a:ea typeface="Courier New" pitchFamily="34" charset="-122"/>
                <a:cs typeface="Courier New" pitchFamily="34" charset="-120"/>
              </a:rPr>
              <a:t>// 2D array: doctors x 7 days occupancy matrix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public int[][] buildWeeklyOccupancyMatrix() {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    int[][] matrix = new int[docList.size()][7];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    for (Appointment apt : appointments) {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        int day = apt.getDate().getDayOfWeek().getValue() - 1;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        matrix[doctorRow(apt.getDoctorId())][day]++;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    }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    return matrix;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050" dirty="0">
                <a:solidFill>
                  <a:srgbClr val="6A9955"/>
                </a:solidFill>
                <a:latin typeface="Courier New" pitchFamily="34" charset="0"/>
                <a:ea typeface="Courier New" pitchFamily="34" charset="-122"/>
                <a:cs typeface="Courier New" pitchFamily="34" charset="-120"/>
              </a:rPr>
              <a:t>// method overloading (Module 3/4)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public void addMedicine(Medicine m) { medicines.add(m); }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public void addMedicine(String name, String dosage, int perDay) {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    addMedicine(new Medicine(name, dosage, perDay));
</a:t>
            </a:r>
            <a:pPr algn="l" indent="0" marL="0">
              <a:lnSpc>
                <a:spcPct val="112000"/>
              </a:lnSpc>
              <a:buNone/>
            </a:pPr>
            <a:r>
              <a:rPr lang="en-US" sz="1050" dirty="0">
                <a:solidFill>
                  <a:srgbClr val="D8DEE9"/>
                </a:solidFill>
                <a:latin typeface="Courier New" pitchFamily="34" charset="0"/>
                <a:ea typeface="Courier New" pitchFamily="34" charset="-122"/>
                <a:cs typeface="Courier New" pitchFamily="34" charset="-120"/>
              </a:rPr>
              <a:t>}</a:t>
            </a:r>
            <a:endParaRPr lang="en-US" sz="1050" dirty="0"/>
          </a:p>
        </p:txBody>
      </p:sp>
      <p:sp>
        <p:nvSpPr>
          <p:cNvPr id="14" name="Text 1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6736F"/>
                </a:solidFill>
                <a:latin typeface="Calibri" pitchFamily="34" charset="0"/>
                <a:ea typeface="Calibri" pitchFamily="34" charset="-122"/>
                <a:cs typeface="Calibri" pitchFamily="34" charset="-120"/>
              </a:rPr>
              <a:t>Implementation Details</a:t>
            </a:r>
            <a:endParaRPr lang="en-US" sz="900" dirty="0"/>
          </a:p>
        </p:txBody>
      </p:sp>
      <p:sp>
        <p:nvSpPr>
          <p:cNvPr id="15" name="Text 1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900" dirty="0">
                <a:solidFill>
                  <a:srgbClr val="56736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AF9"/>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4B4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4" name="Text 2"/>
          <p:cNvSpPr txBox="1"/>
          <p:nvPr/>
        </p:nvSpPr>
        <p:spPr>
          <a:xfrm>
            <a:off x="1325880" y="411480"/>
            <a:ext cx="9601200" cy="640080"/>
          </a:xfrm>
          <a:prstGeom prst="rect">
            <a:avLst/>
          </a:prstGeom>
          <a:noFill/>
          <a:ln/>
        </p:spPr>
        <p:txBody>
          <a:bodyPr wrap="square" lIns="0" tIns="0" rIns="0" bIns="0" rtlCol="0" anchor="ctr"/>
          <a:lstStyle/>
          <a:p>
            <a:pPr algn="l" indent="0" marL="0">
              <a:buNone/>
            </a:pPr>
            <a:r>
              <a:rPr lang="en-US" sz="3000" b="1" dirty="0">
                <a:solidFill>
                  <a:srgbClr val="16302F"/>
                </a:solidFill>
                <a:latin typeface="Cambria" pitchFamily="34" charset="0"/>
                <a:ea typeface="Cambria" pitchFamily="34" charset="-122"/>
                <a:cs typeface="Cambria" pitchFamily="34" charset="-120"/>
              </a:rPr>
              <a:t>Module 4 — OOP: Classes, Inheritance &amp; Interfaces</a:t>
            </a:r>
            <a:endParaRPr lang="en-US" sz="3000" dirty="0"/>
          </a:p>
        </p:txBody>
      </p:sp>
      <p:sp>
        <p:nvSpPr>
          <p:cNvPr id="5" name="Shape 3"/>
          <p:cNvSpPr/>
          <p:nvPr/>
        </p:nvSpPr>
        <p:spPr>
          <a:xfrm>
            <a:off x="1325880" y="987552"/>
            <a:ext cx="3584448" cy="310896"/>
          </a:xfrm>
          <a:prstGeom prst="roundRect">
            <a:avLst>
              <a:gd name="adj" fmla="val 50000"/>
            </a:avLst>
          </a:prstGeom>
          <a:solidFill>
            <a:srgbClr val="FF7A59"/>
          </a:solidFill>
          <a:ln/>
        </p:spPr>
      </p:sp>
      <p:sp>
        <p:nvSpPr>
          <p:cNvPr id="6" name="Text 4"/>
          <p:cNvSpPr txBox="1"/>
          <p:nvPr/>
        </p:nvSpPr>
        <p:spPr>
          <a:xfrm>
            <a:off x="1325880" y="987552"/>
            <a:ext cx="358444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Encapsulation, "is-a", method overriding</a:t>
            </a:r>
            <a:endParaRPr lang="en-US" sz="1050" dirty="0"/>
          </a:p>
        </p:txBody>
      </p:sp>
      <p:sp>
        <p:nvSpPr>
          <p:cNvPr id="7" name="Shape 5"/>
          <p:cNvSpPr/>
          <p:nvPr/>
        </p:nvSpPr>
        <p:spPr>
          <a:xfrm>
            <a:off x="548640" y="1508760"/>
            <a:ext cx="11091672" cy="365760"/>
          </a:xfrm>
          <a:prstGeom prst="roundRect">
            <a:avLst>
              <a:gd name="adj" fmla="val 20000"/>
            </a:avLst>
          </a:prstGeom>
          <a:solidFill>
            <a:srgbClr val="15151F"/>
          </a:solidFill>
          <a:ln/>
        </p:spPr>
      </p:sp>
      <p:sp>
        <p:nvSpPr>
          <p:cNvPr id="8" name="Shape 6"/>
          <p:cNvSpPr/>
          <p:nvPr/>
        </p:nvSpPr>
        <p:spPr>
          <a:xfrm>
            <a:off x="731520" y="1627632"/>
            <a:ext cx="128016" cy="128016"/>
          </a:xfrm>
          <a:prstGeom prst="ellipse">
            <a:avLst/>
          </a:prstGeom>
          <a:solidFill>
            <a:srgbClr val="E06C75"/>
          </a:solidFill>
          <a:ln/>
        </p:spPr>
      </p:sp>
      <p:sp>
        <p:nvSpPr>
          <p:cNvPr id="9" name="Shape 7"/>
          <p:cNvSpPr/>
          <p:nvPr/>
        </p:nvSpPr>
        <p:spPr>
          <a:xfrm>
            <a:off x="987552" y="1627632"/>
            <a:ext cx="128016" cy="128016"/>
          </a:xfrm>
          <a:prstGeom prst="ellipse">
            <a:avLst/>
          </a:prstGeom>
          <a:solidFill>
            <a:srgbClr val="E5C07B"/>
          </a:solidFill>
          <a:ln/>
        </p:spPr>
      </p:sp>
      <p:sp>
        <p:nvSpPr>
          <p:cNvPr id="10" name="Shape 8"/>
          <p:cNvSpPr/>
          <p:nvPr/>
        </p:nvSpPr>
        <p:spPr>
          <a:xfrm>
            <a:off x="1243584" y="1627632"/>
            <a:ext cx="128016" cy="128016"/>
          </a:xfrm>
          <a:prstGeom prst="ellipse">
            <a:avLst/>
          </a:prstGeom>
          <a:solidFill>
            <a:srgbClr val="98C379"/>
          </a:solidFill>
          <a:ln/>
        </p:spPr>
      </p:sp>
      <p:sp>
        <p:nvSpPr>
          <p:cNvPr id="11" name="Text 9"/>
          <p:cNvSpPr txBox="1"/>
          <p:nvPr/>
        </p:nvSpPr>
        <p:spPr>
          <a:xfrm>
            <a:off x="548640" y="1508760"/>
            <a:ext cx="11091672" cy="365760"/>
          </a:xfrm>
          <a:prstGeom prst="rect">
            <a:avLst/>
          </a:prstGeom>
          <a:noFill/>
          <a:ln/>
        </p:spPr>
        <p:txBody>
          <a:bodyPr wrap="square" lIns="0" tIns="0" rIns="0" bIns="0" rtlCol="0" anchor="ctr"/>
          <a:lstStyle/>
          <a:p>
            <a:pPr algn="ctr" indent="0" marL="0">
              <a:buNone/>
            </a:pPr>
            <a:r>
              <a:rPr lang="en-US" sz="1100" dirty="0">
                <a:solidFill>
                  <a:srgbClr val="9AA5B1"/>
                </a:solidFill>
                <a:latin typeface="Courier New" pitchFamily="34" charset="0"/>
                <a:ea typeface="Courier New" pitchFamily="34" charset="-122"/>
                <a:cs typeface="Courier New" pitchFamily="34" charset="-120"/>
              </a:rPr>
              <a:t>Person.java / Doctor.java</a:t>
            </a:r>
            <a:endParaRPr lang="en-US" sz="1100" dirty="0"/>
          </a:p>
        </p:txBody>
      </p:sp>
      <p:sp>
        <p:nvSpPr>
          <p:cNvPr id="12" name="Shape 10"/>
          <p:cNvSpPr/>
          <p:nvPr/>
        </p:nvSpPr>
        <p:spPr>
          <a:xfrm>
            <a:off x="548640" y="1874520"/>
            <a:ext cx="11091672" cy="4526280"/>
          </a:xfrm>
          <a:prstGeom prst="rect">
            <a:avLst/>
          </a:prstGeom>
          <a:solidFill>
            <a:srgbClr val="1E1E2E"/>
          </a:solidFill>
          <a:ln/>
        </p:spPr>
      </p:sp>
      <p:sp>
        <p:nvSpPr>
          <p:cNvPr id="13" name="Text 11"/>
          <p:cNvSpPr txBox="1"/>
          <p:nvPr/>
        </p:nvSpPr>
        <p:spPr>
          <a:xfrm>
            <a:off x="777240" y="2011680"/>
            <a:ext cx="10634472" cy="4251960"/>
          </a:xfrm>
          <a:prstGeom prst="rect">
            <a:avLst/>
          </a:prstGeom>
          <a:noFill/>
          <a:ln/>
        </p:spPr>
        <p:txBody>
          <a:bodyPr wrap="square" lIns="0" tIns="0" rIns="0" bIns="0" rtlCol="0" anchor="t"/>
          <a:lstStyle/>
          <a:p>
            <a:pPr algn="l" indent="0" marL="0">
              <a:lnSpc>
                <a:spcPct val="112000"/>
              </a:lnSpc>
              <a:buNone/>
            </a:pPr>
            <a:r>
              <a:rPr lang="en-US" sz="1080" dirty="0">
                <a:solidFill>
                  <a:srgbClr val="D8DEE9"/>
                </a:solidFill>
                <a:latin typeface="Courier New" pitchFamily="34" charset="0"/>
                <a:ea typeface="Courier New" pitchFamily="34" charset="-122"/>
                <a:cs typeface="Courier New" pitchFamily="34" charset="-120"/>
              </a:rPr>
              <a:t>public abstract class Person {
</a:t>
            </a:r>
            <a:pPr algn="l" indent="0" marL="0">
              <a:lnSpc>
                <a:spcPct val="112000"/>
              </a:lnSpc>
              <a:buNone/>
            </a:pPr>
            <a:r>
              <a:rPr lang="en-US" sz="1080" dirty="0">
                <a:solidFill>
                  <a:srgbClr val="D8DEE9"/>
                </a:solidFill>
                <a:latin typeface="Courier New" pitchFamily="34" charset="0"/>
                <a:ea typeface="Courier New" pitchFamily="34" charset="-122"/>
                <a:cs typeface="Courier New" pitchFamily="34" charset="-120"/>
              </a:rPr>
              <a:t>    private String id;                    // encapsulation: private fields
</a:t>
            </a:r>
            <a:pPr algn="l" indent="0" marL="0">
              <a:lnSpc>
                <a:spcPct val="112000"/>
              </a:lnSpc>
              <a:buNone/>
            </a:pPr>
            <a:r>
              <a:rPr lang="en-US" sz="1080" dirty="0">
                <a:solidFill>
                  <a:srgbClr val="D8DEE9"/>
                </a:solidFill>
                <a:latin typeface="Courier New" pitchFamily="34" charset="0"/>
                <a:ea typeface="Courier New" pitchFamily="34" charset="-122"/>
                <a:cs typeface="Courier New" pitchFamily="34" charset="-120"/>
              </a:rPr>
              <a:t>    private String name;
</a:t>
            </a:r>
            <a:pPr algn="l" indent="0" marL="0">
              <a:lnSpc>
                <a:spcPct val="112000"/>
              </a:lnSpc>
              <a:buNone/>
            </a:pPr>
            <a:r>
              <a:rPr lang="en-US" sz="1080" dirty="0">
                <a:solidFill>
                  <a:srgbClr val="D8DEE9"/>
                </a:solidFill>
                <a:latin typeface="Courier New" pitchFamily="34" charset="0"/>
                <a:ea typeface="Courier New" pitchFamily="34" charset="-122"/>
                <a:cs typeface="Courier New" pitchFamily="34" charset="-120"/>
              </a:rPr>
              <a:t>    private static int totalPersons = 0;  // static member
</a:t>
            </a:r>
            <a:pPr algn="l" indent="0" marL="0">
              <a:lnSpc>
                <a:spcPct val="112000"/>
              </a:lnSpc>
              <a:buNone/>
            </a:pPr>
            <a:r>
              <a:rPr lang="en-US" sz="108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080" dirty="0">
                <a:solidFill>
                  <a:srgbClr val="D8DEE9"/>
                </a:solidFill>
                <a:latin typeface="Courier New" pitchFamily="34" charset="0"/>
                <a:ea typeface="Courier New" pitchFamily="34" charset="-122"/>
                <a:cs typeface="Courier New" pitchFamily="34" charset="-120"/>
              </a:rPr>
              <a:t>    public Person(String id, String name, int age, String phone) {
</a:t>
            </a:r>
            <a:pPr algn="l" indent="0" marL="0">
              <a:lnSpc>
                <a:spcPct val="112000"/>
              </a:lnSpc>
              <a:buNone/>
            </a:pPr>
            <a:r>
              <a:rPr lang="en-US" sz="1080" dirty="0">
                <a:solidFill>
                  <a:srgbClr val="D8DEE9"/>
                </a:solidFill>
                <a:latin typeface="Courier New" pitchFamily="34" charset="0"/>
                <a:ea typeface="Courier New" pitchFamily="34" charset="-122"/>
                <a:cs typeface="Courier New" pitchFamily="34" charset="-120"/>
              </a:rPr>
              <a:t>        this.id = id;  this.name = name;  totalPersons++;
</a:t>
            </a:r>
            <a:pPr algn="l" indent="0" marL="0">
              <a:lnSpc>
                <a:spcPct val="112000"/>
              </a:lnSpc>
              <a:buNone/>
            </a:pPr>
            <a:r>
              <a:rPr lang="en-US" sz="1080" dirty="0">
                <a:solidFill>
                  <a:srgbClr val="D8DEE9"/>
                </a:solidFill>
                <a:latin typeface="Courier New" pitchFamily="34" charset="0"/>
                <a:ea typeface="Courier New" pitchFamily="34" charset="-122"/>
                <a:cs typeface="Courier New" pitchFamily="34" charset="-120"/>
              </a:rPr>
              <a:t>    }
</a:t>
            </a:r>
            <a:pPr algn="l" indent="0" marL="0">
              <a:lnSpc>
                <a:spcPct val="112000"/>
              </a:lnSpc>
              <a:buNone/>
            </a:pPr>
            <a:r>
              <a:rPr lang="en-US" sz="1080" dirty="0">
                <a:solidFill>
                  <a:srgbClr val="D8DEE9"/>
                </a:solidFill>
                <a:latin typeface="Courier New" pitchFamily="34" charset="0"/>
                <a:ea typeface="Courier New" pitchFamily="34" charset="-122"/>
                <a:cs typeface="Courier New" pitchFamily="34" charset="-120"/>
              </a:rPr>
              <a:t>    public abstract String getRole();      // forces subclasses to specialise
</a:t>
            </a:r>
            <a:pPr algn="l" indent="0" marL="0">
              <a:lnSpc>
                <a:spcPct val="112000"/>
              </a:lnSpc>
              <a:buNone/>
            </a:pPr>
            <a:r>
              <a:rPr lang="en-US" sz="1080" dirty="0">
                <a:solidFill>
                  <a:srgbClr val="D8DEE9"/>
                </a:solidFill>
                <a:latin typeface="Courier New" pitchFamily="34" charset="0"/>
                <a:ea typeface="Courier New" pitchFamily="34" charset="-122"/>
                <a:cs typeface="Courier New" pitchFamily="34" charset="-120"/>
              </a:rPr>
              <a:t>    @Override public String toString() { /* ... */ }
</a:t>
            </a:r>
            <a:pPr algn="l" indent="0" marL="0">
              <a:lnSpc>
                <a:spcPct val="112000"/>
              </a:lnSpc>
              <a:buNone/>
            </a:pPr>
            <a:r>
              <a:rPr lang="en-US" sz="108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08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080" dirty="0">
                <a:solidFill>
                  <a:srgbClr val="D8DEE9"/>
                </a:solidFill>
                <a:latin typeface="Courier New" pitchFamily="34" charset="0"/>
                <a:ea typeface="Courier New" pitchFamily="34" charset="-122"/>
                <a:cs typeface="Courier New" pitchFamily="34" charset="-120"/>
              </a:rPr>
              <a:t>public class Doctor extends Person implements Schedulable {  // inheritance + interface
</a:t>
            </a:r>
            <a:pPr algn="l" indent="0" marL="0">
              <a:lnSpc>
                <a:spcPct val="112000"/>
              </a:lnSpc>
              <a:buNone/>
            </a:pPr>
            <a:r>
              <a:rPr lang="en-US" sz="1080" dirty="0">
                <a:solidFill>
                  <a:srgbClr val="D8DEE9"/>
                </a:solidFill>
                <a:latin typeface="Courier New" pitchFamily="34" charset="0"/>
                <a:ea typeface="Courier New" pitchFamily="34" charset="-122"/>
                <a:cs typeface="Courier New" pitchFamily="34" charset="-120"/>
              </a:rPr>
              <a:t>    private final boolean[] slots = new boolean[8];
</a:t>
            </a:r>
            <a:pPr algn="l" indent="0" marL="0">
              <a:lnSpc>
                <a:spcPct val="112000"/>
              </a:lnSpc>
              <a:buNone/>
            </a:pPr>
            <a:r>
              <a:rPr lang="en-US" sz="108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080" dirty="0">
                <a:solidFill>
                  <a:srgbClr val="D8DEE9"/>
                </a:solidFill>
                <a:latin typeface="Courier New" pitchFamily="34" charset="0"/>
                <a:ea typeface="Courier New" pitchFamily="34" charset="-122"/>
                <a:cs typeface="Courier New" pitchFamily="34" charset="-120"/>
              </a:rPr>
              <a:t>    public Doctor(String id, String name, int age, String phone, String spec) {
</a:t>
            </a:r>
            <a:pPr algn="l" indent="0" marL="0">
              <a:lnSpc>
                <a:spcPct val="112000"/>
              </a:lnSpc>
              <a:buNone/>
            </a:pPr>
            <a:r>
              <a:rPr lang="en-US" sz="1080" dirty="0">
                <a:solidFill>
                  <a:srgbClr val="D8DEE9"/>
                </a:solidFill>
                <a:latin typeface="Courier New" pitchFamily="34" charset="0"/>
                <a:ea typeface="Courier New" pitchFamily="34" charset="-122"/>
                <a:cs typeface="Courier New" pitchFamily="34" charset="-120"/>
              </a:rPr>
              <a:t>        super(id, name, age, phone);        // constructor chaining
</a:t>
            </a:r>
            <a:pPr algn="l" indent="0" marL="0">
              <a:lnSpc>
                <a:spcPct val="112000"/>
              </a:lnSpc>
              <a:buNone/>
            </a:pPr>
            <a:r>
              <a:rPr lang="en-US" sz="1080" dirty="0">
                <a:solidFill>
                  <a:srgbClr val="D8DEE9"/>
                </a:solidFill>
                <a:latin typeface="Courier New" pitchFamily="34" charset="0"/>
                <a:ea typeface="Courier New" pitchFamily="34" charset="-122"/>
                <a:cs typeface="Courier New" pitchFamily="34" charset="-120"/>
              </a:rPr>
              <a:t>    }
</a:t>
            </a:r>
            <a:pPr algn="l" indent="0" marL="0">
              <a:lnSpc>
                <a:spcPct val="112000"/>
              </a:lnSpc>
              <a:buNone/>
            </a:pPr>
            <a:r>
              <a:rPr lang="en-US" sz="1080" dirty="0">
                <a:solidFill>
                  <a:srgbClr val="D8DEE9"/>
                </a:solidFill>
                <a:latin typeface="Courier New" pitchFamily="34" charset="0"/>
                <a:ea typeface="Courier New" pitchFamily="34" charset="-122"/>
                <a:cs typeface="Courier New" pitchFamily="34" charset="-120"/>
              </a:rPr>
              <a:t>    @Override public String getRole() { return "Doctor"; }     // overriding
</a:t>
            </a:r>
            <a:pPr algn="l" indent="0" marL="0">
              <a:lnSpc>
                <a:spcPct val="112000"/>
              </a:lnSpc>
              <a:buNone/>
            </a:pPr>
            <a:r>
              <a:rPr lang="en-US" sz="1080" dirty="0">
                <a:solidFill>
                  <a:srgbClr val="D8DEE9"/>
                </a:solidFill>
                <a:latin typeface="Courier New" pitchFamily="34" charset="0"/>
                <a:ea typeface="Courier New" pitchFamily="34" charset="-122"/>
                <a:cs typeface="Courier New" pitchFamily="34" charset="-120"/>
              </a:rPr>
              <a:t>    @Override public boolean isAvailable(int slot) { return slots[slot]; }
</a:t>
            </a:r>
            <a:pPr algn="l" indent="0" marL="0">
              <a:lnSpc>
                <a:spcPct val="112000"/>
              </a:lnSpc>
              <a:buNone/>
            </a:pPr>
            <a:r>
              <a:rPr lang="en-US" sz="1080" dirty="0">
                <a:solidFill>
                  <a:srgbClr val="D8DEE9"/>
                </a:solidFill>
                <a:latin typeface="Courier New" pitchFamily="34" charset="0"/>
                <a:ea typeface="Courier New" pitchFamily="34" charset="-122"/>
                <a:cs typeface="Courier New" pitchFamily="34" charset="-120"/>
              </a:rPr>
              <a:t>}</a:t>
            </a:r>
            <a:endParaRPr lang="en-US" sz="1080" dirty="0"/>
          </a:p>
        </p:txBody>
      </p:sp>
      <p:sp>
        <p:nvSpPr>
          <p:cNvPr id="14" name="Text 1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6736F"/>
                </a:solidFill>
                <a:latin typeface="Calibri" pitchFamily="34" charset="0"/>
                <a:ea typeface="Calibri" pitchFamily="34" charset="-122"/>
                <a:cs typeface="Calibri" pitchFamily="34" charset="-120"/>
              </a:rPr>
              <a:t>Implementation Details</a:t>
            </a:r>
            <a:endParaRPr lang="en-US" sz="900" dirty="0"/>
          </a:p>
        </p:txBody>
      </p:sp>
      <p:sp>
        <p:nvSpPr>
          <p:cNvPr id="15" name="Text 1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900" dirty="0">
                <a:solidFill>
                  <a:srgbClr val="56736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AF9"/>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4B4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4" name="Text 2"/>
          <p:cNvSpPr txBox="1"/>
          <p:nvPr/>
        </p:nvSpPr>
        <p:spPr>
          <a:xfrm>
            <a:off x="1325880" y="411480"/>
            <a:ext cx="9601200" cy="640080"/>
          </a:xfrm>
          <a:prstGeom prst="rect">
            <a:avLst/>
          </a:prstGeom>
          <a:noFill/>
          <a:ln/>
        </p:spPr>
        <p:txBody>
          <a:bodyPr wrap="square" lIns="0" tIns="0" rIns="0" bIns="0" rtlCol="0" anchor="ctr"/>
          <a:lstStyle/>
          <a:p>
            <a:pPr algn="l" indent="0" marL="0">
              <a:buNone/>
            </a:pPr>
            <a:r>
              <a:rPr lang="en-US" sz="3000" b="1" dirty="0">
                <a:solidFill>
                  <a:srgbClr val="16302F"/>
                </a:solidFill>
                <a:latin typeface="Cambria" pitchFamily="34" charset="0"/>
                <a:ea typeface="Cambria" pitchFamily="34" charset="-122"/>
                <a:cs typeface="Cambria" pitchFamily="34" charset="-120"/>
              </a:rPr>
              <a:t>Module 4 — Exception Handling</a:t>
            </a:r>
            <a:endParaRPr lang="en-US" sz="3000" dirty="0"/>
          </a:p>
        </p:txBody>
      </p:sp>
      <p:sp>
        <p:nvSpPr>
          <p:cNvPr id="5" name="Shape 3"/>
          <p:cNvSpPr/>
          <p:nvPr/>
        </p:nvSpPr>
        <p:spPr>
          <a:xfrm>
            <a:off x="1325880" y="987552"/>
            <a:ext cx="4147718" cy="310896"/>
          </a:xfrm>
          <a:prstGeom prst="roundRect">
            <a:avLst>
              <a:gd name="adj" fmla="val 50000"/>
            </a:avLst>
          </a:prstGeom>
          <a:solidFill>
            <a:srgbClr val="FF7A59"/>
          </a:solidFill>
          <a:ln/>
        </p:spPr>
      </p:sp>
      <p:sp>
        <p:nvSpPr>
          <p:cNvPr id="6" name="Text 4"/>
          <p:cNvSpPr txBox="1"/>
          <p:nvPr/>
        </p:nvSpPr>
        <p:spPr>
          <a:xfrm>
            <a:off x="1325880" y="987552"/>
            <a:ext cx="414771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Checked exceptions, throw / throws, multi-catch</a:t>
            </a:r>
            <a:endParaRPr lang="en-US" sz="1050" dirty="0"/>
          </a:p>
        </p:txBody>
      </p:sp>
      <p:sp>
        <p:nvSpPr>
          <p:cNvPr id="7" name="Shape 5"/>
          <p:cNvSpPr/>
          <p:nvPr/>
        </p:nvSpPr>
        <p:spPr>
          <a:xfrm>
            <a:off x="548640" y="1508760"/>
            <a:ext cx="11091672" cy="365760"/>
          </a:xfrm>
          <a:prstGeom prst="roundRect">
            <a:avLst>
              <a:gd name="adj" fmla="val 20000"/>
            </a:avLst>
          </a:prstGeom>
          <a:solidFill>
            <a:srgbClr val="15151F"/>
          </a:solidFill>
          <a:ln/>
        </p:spPr>
      </p:sp>
      <p:sp>
        <p:nvSpPr>
          <p:cNvPr id="8" name="Shape 6"/>
          <p:cNvSpPr/>
          <p:nvPr/>
        </p:nvSpPr>
        <p:spPr>
          <a:xfrm>
            <a:off x="731520" y="1627632"/>
            <a:ext cx="128016" cy="128016"/>
          </a:xfrm>
          <a:prstGeom prst="ellipse">
            <a:avLst/>
          </a:prstGeom>
          <a:solidFill>
            <a:srgbClr val="E06C75"/>
          </a:solidFill>
          <a:ln/>
        </p:spPr>
      </p:sp>
      <p:sp>
        <p:nvSpPr>
          <p:cNvPr id="9" name="Shape 7"/>
          <p:cNvSpPr/>
          <p:nvPr/>
        </p:nvSpPr>
        <p:spPr>
          <a:xfrm>
            <a:off x="987552" y="1627632"/>
            <a:ext cx="128016" cy="128016"/>
          </a:xfrm>
          <a:prstGeom prst="ellipse">
            <a:avLst/>
          </a:prstGeom>
          <a:solidFill>
            <a:srgbClr val="E5C07B"/>
          </a:solidFill>
          <a:ln/>
        </p:spPr>
      </p:sp>
      <p:sp>
        <p:nvSpPr>
          <p:cNvPr id="10" name="Shape 8"/>
          <p:cNvSpPr/>
          <p:nvPr/>
        </p:nvSpPr>
        <p:spPr>
          <a:xfrm>
            <a:off x="1243584" y="1627632"/>
            <a:ext cx="128016" cy="128016"/>
          </a:xfrm>
          <a:prstGeom prst="ellipse">
            <a:avLst/>
          </a:prstGeom>
          <a:solidFill>
            <a:srgbClr val="98C379"/>
          </a:solidFill>
          <a:ln/>
        </p:spPr>
      </p:sp>
      <p:sp>
        <p:nvSpPr>
          <p:cNvPr id="11" name="Text 9"/>
          <p:cNvSpPr txBox="1"/>
          <p:nvPr/>
        </p:nvSpPr>
        <p:spPr>
          <a:xfrm>
            <a:off x="548640" y="1508760"/>
            <a:ext cx="11091672" cy="365760"/>
          </a:xfrm>
          <a:prstGeom prst="rect">
            <a:avLst/>
          </a:prstGeom>
          <a:noFill/>
          <a:ln/>
        </p:spPr>
        <p:txBody>
          <a:bodyPr wrap="square" lIns="0" tIns="0" rIns="0" bIns="0" rtlCol="0" anchor="ctr"/>
          <a:lstStyle/>
          <a:p>
            <a:pPr algn="ctr" indent="0" marL="0">
              <a:buNone/>
            </a:pPr>
            <a:r>
              <a:rPr lang="en-US" sz="1100" dirty="0">
                <a:solidFill>
                  <a:srgbClr val="9AA5B1"/>
                </a:solidFill>
                <a:latin typeface="Courier New" pitchFamily="34" charset="0"/>
                <a:ea typeface="Courier New" pitchFamily="34" charset="-122"/>
                <a:cs typeface="Courier New" pitchFamily="34" charset="-120"/>
              </a:rPr>
              <a:t>ClinicService.java / ClinicApp.java</a:t>
            </a:r>
            <a:endParaRPr lang="en-US" sz="1100" dirty="0"/>
          </a:p>
        </p:txBody>
      </p:sp>
      <p:sp>
        <p:nvSpPr>
          <p:cNvPr id="12" name="Shape 10"/>
          <p:cNvSpPr/>
          <p:nvPr/>
        </p:nvSpPr>
        <p:spPr>
          <a:xfrm>
            <a:off x="548640" y="1874520"/>
            <a:ext cx="11091672" cy="4526280"/>
          </a:xfrm>
          <a:prstGeom prst="rect">
            <a:avLst/>
          </a:prstGeom>
          <a:solidFill>
            <a:srgbClr val="1E1E2E"/>
          </a:solidFill>
          <a:ln/>
        </p:spPr>
      </p:sp>
      <p:sp>
        <p:nvSpPr>
          <p:cNvPr id="13" name="Text 11"/>
          <p:cNvSpPr txBox="1"/>
          <p:nvPr/>
        </p:nvSpPr>
        <p:spPr>
          <a:xfrm>
            <a:off x="777240" y="2011680"/>
            <a:ext cx="10634472" cy="4251960"/>
          </a:xfrm>
          <a:prstGeom prst="rect">
            <a:avLst/>
          </a:prstGeom>
          <a:noFill/>
          <a:ln/>
        </p:spPr>
        <p:txBody>
          <a:bodyPr wrap="square" lIns="0" tIns="0" rIns="0" bIns="0" rtlCol="0" anchor="t"/>
          <a:lstStyle/>
          <a:p>
            <a:pPr algn="l" indent="0" marL="0">
              <a:lnSpc>
                <a:spcPct val="112000"/>
              </a:lnSpc>
              <a:buNone/>
            </a:pPr>
            <a:r>
              <a:rPr lang="en-US" sz="980" dirty="0">
                <a:solidFill>
                  <a:srgbClr val="6A9955"/>
                </a:solidFill>
                <a:latin typeface="Courier New" pitchFamily="34" charset="0"/>
                <a:ea typeface="Courier New" pitchFamily="34" charset="-122"/>
                <a:cs typeface="Courier New" pitchFamily="34" charset="-120"/>
              </a:rPr>
              <a:t>// user-defined CHECKED exceptions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public class InvalidAppointmentException extends Exception {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    public InvalidAppointmentException(String message) { super(message); }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public class SlotUnavailableException extends Exception { /* ... */ }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public Appointment bookAppointment(String pId, String dId, LocalDate date, int slot)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        throws InvalidAppointmentException, SlotUnavailableException {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    if (date.isBefore(LocalDate.now()))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        throw new InvalidAppointmentException("Cannot book in the past: " + date);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    if (!doc.isAvailable(slot))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        throw new SlotUnavailableException("Slot " + slot + " is taken");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    doc.blockSlot(slot);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    return new Appointment(pId, dId, date, slot);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980" dirty="0">
                <a:solidFill>
                  <a:srgbClr val="6A9955"/>
                </a:solidFill>
                <a:latin typeface="Courier New" pitchFamily="34" charset="0"/>
                <a:ea typeface="Courier New" pitchFamily="34" charset="-122"/>
                <a:cs typeface="Courier New" pitchFamily="34" charset="-120"/>
              </a:rPr>
              <a:t>// caller: try-catch-finally with multiple catch blocks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try {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    Appointment apt = service.bookAppointment(patientId, doctorId, date, slot);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 catch (InvalidAppointmentException e) {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    System.out.println("Invalid appointment: " + e.getMessage());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 catch (SlotUnavailableException e) {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    System.out.println("Slot unavailable: " + e.getMessage());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 finally {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    System.out.println("Booking attempt finished at " + LocalDate.now());
</a:t>
            </a:r>
            <a:pPr algn="l" indent="0" marL="0">
              <a:lnSpc>
                <a:spcPct val="112000"/>
              </a:lnSpc>
              <a:buNone/>
            </a:pPr>
            <a:r>
              <a:rPr lang="en-US" sz="980" dirty="0">
                <a:solidFill>
                  <a:srgbClr val="D8DEE9"/>
                </a:solidFill>
                <a:latin typeface="Courier New" pitchFamily="34" charset="0"/>
                <a:ea typeface="Courier New" pitchFamily="34" charset="-122"/>
                <a:cs typeface="Courier New" pitchFamily="34" charset="-120"/>
              </a:rPr>
              <a:t>}</a:t>
            </a:r>
            <a:endParaRPr lang="en-US" sz="980" dirty="0"/>
          </a:p>
        </p:txBody>
      </p:sp>
      <p:sp>
        <p:nvSpPr>
          <p:cNvPr id="14" name="Text 1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6736F"/>
                </a:solidFill>
                <a:latin typeface="Calibri" pitchFamily="34" charset="0"/>
                <a:ea typeface="Calibri" pitchFamily="34" charset="-122"/>
                <a:cs typeface="Calibri" pitchFamily="34" charset="-120"/>
              </a:rPr>
              <a:t>Implementation Details</a:t>
            </a:r>
            <a:endParaRPr lang="en-US" sz="900" dirty="0"/>
          </a:p>
        </p:txBody>
      </p:sp>
      <p:sp>
        <p:nvSpPr>
          <p:cNvPr id="15" name="Text 1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900" dirty="0">
                <a:solidFill>
                  <a:srgbClr val="56736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AF9"/>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4B4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4" name="Text 2"/>
          <p:cNvSpPr txBox="1"/>
          <p:nvPr/>
        </p:nvSpPr>
        <p:spPr>
          <a:xfrm>
            <a:off x="1325880" y="411480"/>
            <a:ext cx="9601200" cy="640080"/>
          </a:xfrm>
          <a:prstGeom prst="rect">
            <a:avLst/>
          </a:prstGeom>
          <a:noFill/>
          <a:ln/>
        </p:spPr>
        <p:txBody>
          <a:bodyPr wrap="square" lIns="0" tIns="0" rIns="0" bIns="0" rtlCol="0" anchor="ctr"/>
          <a:lstStyle/>
          <a:p>
            <a:pPr algn="l" indent="0" marL="0">
              <a:buNone/>
            </a:pPr>
            <a:r>
              <a:rPr lang="en-US" sz="3000" b="1" dirty="0">
                <a:solidFill>
                  <a:srgbClr val="16302F"/>
                </a:solidFill>
                <a:latin typeface="Cambria" pitchFamily="34" charset="0"/>
                <a:ea typeface="Cambria" pitchFamily="34" charset="-122"/>
                <a:cs typeface="Cambria" pitchFamily="34" charset="-120"/>
              </a:rPr>
              <a:t>Module 5 — Strings, Sorting &amp; File I/O</a:t>
            </a:r>
            <a:endParaRPr lang="en-US" sz="3000" dirty="0"/>
          </a:p>
        </p:txBody>
      </p:sp>
      <p:sp>
        <p:nvSpPr>
          <p:cNvPr id="5" name="Shape 3"/>
          <p:cNvSpPr/>
          <p:nvPr/>
        </p:nvSpPr>
        <p:spPr>
          <a:xfrm>
            <a:off x="1325880" y="987552"/>
            <a:ext cx="3584448" cy="310896"/>
          </a:xfrm>
          <a:prstGeom prst="roundRect">
            <a:avLst>
              <a:gd name="adj" fmla="val 50000"/>
            </a:avLst>
          </a:prstGeom>
          <a:solidFill>
            <a:srgbClr val="FF7A59"/>
          </a:solidFill>
          <a:ln/>
        </p:spPr>
      </p:sp>
      <p:sp>
        <p:nvSpPr>
          <p:cNvPr id="6" name="Text 4"/>
          <p:cNvSpPr txBox="1"/>
          <p:nvPr/>
        </p:nvSpPr>
        <p:spPr>
          <a:xfrm>
            <a:off x="1325880" y="987552"/>
            <a:ext cx="358444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StringBuilder, Comparable, java.nio.file</a:t>
            </a:r>
            <a:endParaRPr lang="en-US" sz="1050" dirty="0"/>
          </a:p>
        </p:txBody>
      </p:sp>
      <p:sp>
        <p:nvSpPr>
          <p:cNvPr id="7" name="Shape 5"/>
          <p:cNvSpPr/>
          <p:nvPr/>
        </p:nvSpPr>
        <p:spPr>
          <a:xfrm>
            <a:off x="548640" y="1508760"/>
            <a:ext cx="11091672" cy="365760"/>
          </a:xfrm>
          <a:prstGeom prst="roundRect">
            <a:avLst>
              <a:gd name="adj" fmla="val 20000"/>
            </a:avLst>
          </a:prstGeom>
          <a:solidFill>
            <a:srgbClr val="15151F"/>
          </a:solidFill>
          <a:ln/>
        </p:spPr>
      </p:sp>
      <p:sp>
        <p:nvSpPr>
          <p:cNvPr id="8" name="Shape 6"/>
          <p:cNvSpPr/>
          <p:nvPr/>
        </p:nvSpPr>
        <p:spPr>
          <a:xfrm>
            <a:off x="731520" y="1627632"/>
            <a:ext cx="128016" cy="128016"/>
          </a:xfrm>
          <a:prstGeom prst="ellipse">
            <a:avLst/>
          </a:prstGeom>
          <a:solidFill>
            <a:srgbClr val="E06C75"/>
          </a:solidFill>
          <a:ln/>
        </p:spPr>
      </p:sp>
      <p:sp>
        <p:nvSpPr>
          <p:cNvPr id="9" name="Shape 7"/>
          <p:cNvSpPr/>
          <p:nvPr/>
        </p:nvSpPr>
        <p:spPr>
          <a:xfrm>
            <a:off x="987552" y="1627632"/>
            <a:ext cx="128016" cy="128016"/>
          </a:xfrm>
          <a:prstGeom prst="ellipse">
            <a:avLst/>
          </a:prstGeom>
          <a:solidFill>
            <a:srgbClr val="E5C07B"/>
          </a:solidFill>
          <a:ln/>
        </p:spPr>
      </p:sp>
      <p:sp>
        <p:nvSpPr>
          <p:cNvPr id="10" name="Shape 8"/>
          <p:cNvSpPr/>
          <p:nvPr/>
        </p:nvSpPr>
        <p:spPr>
          <a:xfrm>
            <a:off x="1243584" y="1627632"/>
            <a:ext cx="128016" cy="128016"/>
          </a:xfrm>
          <a:prstGeom prst="ellipse">
            <a:avLst/>
          </a:prstGeom>
          <a:solidFill>
            <a:srgbClr val="98C379"/>
          </a:solidFill>
          <a:ln/>
        </p:spPr>
      </p:sp>
      <p:sp>
        <p:nvSpPr>
          <p:cNvPr id="11" name="Text 9"/>
          <p:cNvSpPr txBox="1"/>
          <p:nvPr/>
        </p:nvSpPr>
        <p:spPr>
          <a:xfrm>
            <a:off x="548640" y="1508760"/>
            <a:ext cx="11091672" cy="365760"/>
          </a:xfrm>
          <a:prstGeom prst="rect">
            <a:avLst/>
          </a:prstGeom>
          <a:noFill/>
          <a:ln/>
        </p:spPr>
        <p:txBody>
          <a:bodyPr wrap="square" lIns="0" tIns="0" rIns="0" bIns="0" rtlCol="0" anchor="ctr"/>
          <a:lstStyle/>
          <a:p>
            <a:pPr algn="ctr" indent="0" marL="0">
              <a:buNone/>
            </a:pPr>
            <a:r>
              <a:rPr lang="en-US" sz="1100" dirty="0">
                <a:solidFill>
                  <a:srgbClr val="9AA5B1"/>
                </a:solidFill>
                <a:latin typeface="Courier New" pitchFamily="34" charset="0"/>
                <a:ea typeface="Courier New" pitchFamily="34" charset="-122"/>
                <a:cs typeface="Courier New" pitchFamily="34" charset="-120"/>
              </a:rPr>
              <a:t>Prescription.java / Appointment.java / ClinicService.java</a:t>
            </a:r>
            <a:endParaRPr lang="en-US" sz="1100" dirty="0"/>
          </a:p>
        </p:txBody>
      </p:sp>
      <p:sp>
        <p:nvSpPr>
          <p:cNvPr id="12" name="Shape 10"/>
          <p:cNvSpPr/>
          <p:nvPr/>
        </p:nvSpPr>
        <p:spPr>
          <a:xfrm>
            <a:off x="548640" y="1874520"/>
            <a:ext cx="11091672" cy="4526280"/>
          </a:xfrm>
          <a:prstGeom prst="rect">
            <a:avLst/>
          </a:prstGeom>
          <a:solidFill>
            <a:srgbClr val="1E1E2E"/>
          </a:solidFill>
          <a:ln/>
        </p:spPr>
      </p:sp>
      <p:sp>
        <p:nvSpPr>
          <p:cNvPr id="13" name="Text 11"/>
          <p:cNvSpPr txBox="1"/>
          <p:nvPr/>
        </p:nvSpPr>
        <p:spPr>
          <a:xfrm>
            <a:off x="777240" y="2011680"/>
            <a:ext cx="10634472" cy="4251960"/>
          </a:xfrm>
          <a:prstGeom prst="rect">
            <a:avLst/>
          </a:prstGeom>
          <a:noFill/>
          <a:ln/>
        </p:spPr>
        <p:txBody>
          <a:bodyPr wrap="square" lIns="0" tIns="0" rIns="0" bIns="0" rtlCol="0" anchor="t"/>
          <a:lstStyle/>
          <a:p>
            <a:pPr algn="l" indent="0" marL="0">
              <a:lnSpc>
                <a:spcPct val="112000"/>
              </a:lnSpc>
              <a:buNone/>
            </a:pPr>
            <a:r>
              <a:rPr lang="en-US" sz="1000" dirty="0">
                <a:solidFill>
                  <a:srgbClr val="6A9955"/>
                </a:solidFill>
                <a:latin typeface="Courier New" pitchFamily="34" charset="0"/>
                <a:ea typeface="Courier New" pitchFamily="34" charset="-122"/>
                <a:cs typeface="Courier New" pitchFamily="34" charset="-120"/>
              </a:rPr>
              <a:t>// StringBuilder for mutable report text (String itself is immutable)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StringBuilder sb = new StringBuilder();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sb.append("Prescription for Appointment: ").append(appointmentId).append("\n");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for (Medicine m : medicines) sb.append("  - ").append(m).append("\n");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000" dirty="0">
                <a:solidFill>
                  <a:srgbClr val="6A9955"/>
                </a:solidFill>
                <a:latin typeface="Courier New" pitchFamily="34" charset="0"/>
                <a:ea typeface="Courier New" pitchFamily="34" charset="-122"/>
                <a:cs typeface="Courier New" pitchFamily="34" charset="-120"/>
              </a:rPr>
              <a:t>// Comparable natural ordering + split() for CSV parsing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public int compareTo(Appointment other) { return this.date.compareTo(other.date); }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String[] parts = line.split(",");           // tokenizing a saved record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000" dirty="0">
                <a:solidFill>
                  <a:srgbClr val="6A9955"/>
                </a:solidFill>
                <a:latin typeface="Courier New" pitchFamily="34" charset="0"/>
                <a:ea typeface="Courier New" pitchFamily="34" charset="-122"/>
                <a:cs typeface="Courier New" pitchFamily="34" charset="-120"/>
              </a:rPr>
              <a:t>// java.nio.file File I/O with try-with-resources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public void saveAppointmentsToFile() throws IOException {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List&lt;String&gt; lines = appointments.stream().map(Appointment::toCsv).toList();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Files.write(DATA_FILE, lines, StandardOpenOption.CREATE,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StandardOpenOption.TRUNCATE_EXISTING);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try (Stream&lt;String&gt; lineStream = Files.lines(DATA_FILE, UTF_8)) {   // reading lines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List&lt;String&gt; lines = lineStream.filter(l -&gt; !l.isBlank()).toList();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for (String line : lines) { /* Appointment.fromCsv(line) with validation */ }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catch (IOException e) {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System.out.println("Could not read appointments file: " + e.getMessage());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a:t>
            </a:r>
            <a:endParaRPr lang="en-US" sz="1000" dirty="0"/>
          </a:p>
        </p:txBody>
      </p:sp>
      <p:sp>
        <p:nvSpPr>
          <p:cNvPr id="14" name="Text 1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6736F"/>
                </a:solidFill>
                <a:latin typeface="Calibri" pitchFamily="34" charset="0"/>
                <a:ea typeface="Calibri" pitchFamily="34" charset="-122"/>
                <a:cs typeface="Calibri" pitchFamily="34" charset="-120"/>
              </a:rPr>
              <a:t>Implementation Details</a:t>
            </a:r>
            <a:endParaRPr lang="en-US" sz="900" dirty="0"/>
          </a:p>
        </p:txBody>
      </p:sp>
      <p:sp>
        <p:nvSpPr>
          <p:cNvPr id="15" name="Text 1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900" dirty="0">
                <a:solidFill>
                  <a:srgbClr val="56736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AF9"/>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4B4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4" name="Text 2"/>
          <p:cNvSpPr txBox="1"/>
          <p:nvPr/>
        </p:nvSpPr>
        <p:spPr>
          <a:xfrm>
            <a:off x="1325880" y="411480"/>
            <a:ext cx="9601200" cy="640080"/>
          </a:xfrm>
          <a:prstGeom prst="rect">
            <a:avLst/>
          </a:prstGeom>
          <a:noFill/>
          <a:ln/>
        </p:spPr>
        <p:txBody>
          <a:bodyPr wrap="square" lIns="0" tIns="0" rIns="0" bIns="0" rtlCol="0" anchor="ctr"/>
          <a:lstStyle/>
          <a:p>
            <a:pPr algn="l" indent="0" marL="0">
              <a:buNone/>
            </a:pPr>
            <a:r>
              <a:rPr lang="en-US" sz="3000" b="1" dirty="0">
                <a:solidFill>
                  <a:srgbClr val="16302F"/>
                </a:solidFill>
                <a:latin typeface="Cambria" pitchFamily="34" charset="0"/>
                <a:ea typeface="Cambria" pitchFamily="34" charset="-122"/>
                <a:cs typeface="Cambria" pitchFamily="34" charset="-120"/>
              </a:rPr>
              <a:t>Module 6 — Collections &amp; Streams</a:t>
            </a:r>
            <a:endParaRPr lang="en-US" sz="3000" dirty="0"/>
          </a:p>
        </p:txBody>
      </p:sp>
      <p:sp>
        <p:nvSpPr>
          <p:cNvPr id="5" name="Shape 3"/>
          <p:cNvSpPr/>
          <p:nvPr/>
        </p:nvSpPr>
        <p:spPr>
          <a:xfrm>
            <a:off x="1325880" y="987552"/>
            <a:ext cx="3906317" cy="310896"/>
          </a:xfrm>
          <a:prstGeom prst="roundRect">
            <a:avLst>
              <a:gd name="adj" fmla="val 50000"/>
            </a:avLst>
          </a:prstGeom>
          <a:solidFill>
            <a:srgbClr val="FF7A59"/>
          </a:solidFill>
          <a:ln/>
        </p:spPr>
      </p:sp>
      <p:sp>
        <p:nvSpPr>
          <p:cNvPr id="6" name="Text 4"/>
          <p:cNvSpPr txBox="1"/>
          <p:nvPr/>
        </p:nvSpPr>
        <p:spPr>
          <a:xfrm>
            <a:off x="1325880" y="987552"/>
            <a:ext cx="3906317"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Lambdas, method references, Stream pipelines</a:t>
            </a:r>
            <a:endParaRPr lang="en-US" sz="1050" dirty="0"/>
          </a:p>
        </p:txBody>
      </p:sp>
      <p:sp>
        <p:nvSpPr>
          <p:cNvPr id="7" name="Shape 5"/>
          <p:cNvSpPr/>
          <p:nvPr/>
        </p:nvSpPr>
        <p:spPr>
          <a:xfrm>
            <a:off x="548640" y="1508760"/>
            <a:ext cx="11091672" cy="365760"/>
          </a:xfrm>
          <a:prstGeom prst="roundRect">
            <a:avLst>
              <a:gd name="adj" fmla="val 20000"/>
            </a:avLst>
          </a:prstGeom>
          <a:solidFill>
            <a:srgbClr val="15151F"/>
          </a:solidFill>
          <a:ln/>
        </p:spPr>
      </p:sp>
      <p:sp>
        <p:nvSpPr>
          <p:cNvPr id="8" name="Shape 6"/>
          <p:cNvSpPr/>
          <p:nvPr/>
        </p:nvSpPr>
        <p:spPr>
          <a:xfrm>
            <a:off x="731520" y="1627632"/>
            <a:ext cx="128016" cy="128016"/>
          </a:xfrm>
          <a:prstGeom prst="ellipse">
            <a:avLst/>
          </a:prstGeom>
          <a:solidFill>
            <a:srgbClr val="E06C75"/>
          </a:solidFill>
          <a:ln/>
        </p:spPr>
      </p:sp>
      <p:sp>
        <p:nvSpPr>
          <p:cNvPr id="9" name="Shape 7"/>
          <p:cNvSpPr/>
          <p:nvPr/>
        </p:nvSpPr>
        <p:spPr>
          <a:xfrm>
            <a:off x="987552" y="1627632"/>
            <a:ext cx="128016" cy="128016"/>
          </a:xfrm>
          <a:prstGeom prst="ellipse">
            <a:avLst/>
          </a:prstGeom>
          <a:solidFill>
            <a:srgbClr val="E5C07B"/>
          </a:solidFill>
          <a:ln/>
        </p:spPr>
      </p:sp>
      <p:sp>
        <p:nvSpPr>
          <p:cNvPr id="10" name="Shape 8"/>
          <p:cNvSpPr/>
          <p:nvPr/>
        </p:nvSpPr>
        <p:spPr>
          <a:xfrm>
            <a:off x="1243584" y="1627632"/>
            <a:ext cx="128016" cy="128016"/>
          </a:xfrm>
          <a:prstGeom prst="ellipse">
            <a:avLst/>
          </a:prstGeom>
          <a:solidFill>
            <a:srgbClr val="98C379"/>
          </a:solidFill>
          <a:ln/>
        </p:spPr>
      </p:sp>
      <p:sp>
        <p:nvSpPr>
          <p:cNvPr id="11" name="Text 9"/>
          <p:cNvSpPr txBox="1"/>
          <p:nvPr/>
        </p:nvSpPr>
        <p:spPr>
          <a:xfrm>
            <a:off x="548640" y="1508760"/>
            <a:ext cx="11091672" cy="365760"/>
          </a:xfrm>
          <a:prstGeom prst="rect">
            <a:avLst/>
          </a:prstGeom>
          <a:noFill/>
          <a:ln/>
        </p:spPr>
        <p:txBody>
          <a:bodyPr wrap="square" lIns="0" tIns="0" rIns="0" bIns="0" rtlCol="0" anchor="ctr"/>
          <a:lstStyle/>
          <a:p>
            <a:pPr algn="ctr" indent="0" marL="0">
              <a:buNone/>
            </a:pPr>
            <a:r>
              <a:rPr lang="en-US" sz="1100" dirty="0">
                <a:solidFill>
                  <a:srgbClr val="9AA5B1"/>
                </a:solidFill>
                <a:latin typeface="Courier New" pitchFamily="34" charset="0"/>
                <a:ea typeface="Courier New" pitchFamily="34" charset="-122"/>
                <a:cs typeface="Courier New" pitchFamily="34" charset="-120"/>
              </a:rPr>
              <a:t>ClinicService.java</a:t>
            </a:r>
            <a:endParaRPr lang="en-US" sz="1100" dirty="0"/>
          </a:p>
        </p:txBody>
      </p:sp>
      <p:sp>
        <p:nvSpPr>
          <p:cNvPr id="12" name="Shape 10"/>
          <p:cNvSpPr/>
          <p:nvPr/>
        </p:nvSpPr>
        <p:spPr>
          <a:xfrm>
            <a:off x="548640" y="1874520"/>
            <a:ext cx="11091672" cy="4526280"/>
          </a:xfrm>
          <a:prstGeom prst="rect">
            <a:avLst/>
          </a:prstGeom>
          <a:solidFill>
            <a:srgbClr val="1E1E2E"/>
          </a:solidFill>
          <a:ln/>
        </p:spPr>
      </p:sp>
      <p:sp>
        <p:nvSpPr>
          <p:cNvPr id="13" name="Text 11"/>
          <p:cNvSpPr txBox="1"/>
          <p:nvPr/>
        </p:nvSpPr>
        <p:spPr>
          <a:xfrm>
            <a:off x="777240" y="2011680"/>
            <a:ext cx="10634472" cy="4251960"/>
          </a:xfrm>
          <a:prstGeom prst="rect">
            <a:avLst/>
          </a:prstGeom>
          <a:noFill/>
          <a:ln/>
        </p:spPr>
        <p:txBody>
          <a:bodyPr wrap="square" lIns="0" tIns="0" rIns="0" bIns="0" rtlCol="0" anchor="t"/>
          <a:lstStyle/>
          <a:p>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private final List&lt;Patient&gt; patients = new ArrayList&lt;&gt;();      // Collections framework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private final Map&lt;String, Doctor&gt; doctors = new HashMap&lt;&gt;();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private final Set&lt;String&gt; bloodGroupsSeen = new HashSet&lt;&gt;();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000" dirty="0">
                <a:solidFill>
                  <a:srgbClr val="6A9955"/>
                </a:solidFill>
                <a:latin typeface="Courier New" pitchFamily="34" charset="0"/>
                <a:ea typeface="Courier New" pitchFamily="34" charset="-122"/>
                <a:cs typeface="Courier New" pitchFamily="34" charset="-120"/>
              </a:rPr>
              <a:t>// filter -&gt; sorted -&gt; collect  (Predicate lambda + method reference)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public List&lt;Appointment&gt; upcomingBookedAppointments() {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return appointments.stream()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.filter(a -&gt; a.getStatus().equals(Appointment.STATUS_BOOKED))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.filter(a -&gt; !a.getDate().isBefore(LocalDate.now()))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.sorted()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.collect(Collectors.toList());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000" dirty="0">
                <a:solidFill>
                  <a:srgbClr val="6A9955"/>
                </a:solidFill>
                <a:latin typeface="Courier New" pitchFamily="34" charset="0"/>
                <a:ea typeface="Courier New" pitchFamily="34" charset="-122"/>
                <a:cs typeface="Courier New" pitchFamily="34" charset="-120"/>
              </a:rPr>
              <a:t>// Collectors.groupingBy + counting  -&gt;  appointment load per doctor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public Map&lt;String, Long&gt; appointmentCountPerDoctor() {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return appointments.stream()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.collect(Collectors.groupingBy(Appointment::getDoctorId, Collectors.counting()));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a:t>
            </a:r>
            <a:pPr algn="l" indent="0" marL="0">
              <a:lnSpc>
                <a:spcPct val="112000"/>
              </a:lnSpc>
              <a:buNone/>
            </a:pPr>
            <a:r>
              <a:rPr lang="en-US" sz="1000" dirty="0">
                <a:solidFill>
                  <a:srgbClr val="6A9955"/>
                </a:solidFill>
                <a:latin typeface="Courier New" pitchFamily="34" charset="0"/>
                <a:ea typeface="Courier New" pitchFamily="34" charset="-122"/>
                <a:cs typeface="Courier New" pitchFamily="34" charset="-120"/>
              </a:rPr>
              <a:t>// Collectors.joining + Comparator.comparing (method references)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String names = patients.stream().map(Person::getName).sorted()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.collect(Collectors.joining(", "));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appointments.sort(Comparator.comparing(Appointment::getPatientId)
</a:t>
            </a:r>
            <a:pPr algn="l" indent="0" marL="0">
              <a:lnSpc>
                <a:spcPct val="112000"/>
              </a:lnSpc>
              <a:buNone/>
            </a:pPr>
            <a:r>
              <a:rPr lang="en-US" sz="1000" dirty="0">
                <a:solidFill>
                  <a:srgbClr val="D8DEE9"/>
                </a:solidFill>
                <a:latin typeface="Courier New" pitchFamily="34" charset="0"/>
                <a:ea typeface="Courier New" pitchFamily="34" charset="-122"/>
                <a:cs typeface="Courier New" pitchFamily="34" charset="-120"/>
              </a:rPr>
              <a:t>        .thenComparing(Appointment::getDate));</a:t>
            </a:r>
            <a:endParaRPr lang="en-US" sz="1000" dirty="0"/>
          </a:p>
        </p:txBody>
      </p:sp>
      <p:sp>
        <p:nvSpPr>
          <p:cNvPr id="14" name="Text 1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6736F"/>
                </a:solidFill>
                <a:latin typeface="Calibri" pitchFamily="34" charset="0"/>
                <a:ea typeface="Calibri" pitchFamily="34" charset="-122"/>
                <a:cs typeface="Calibri" pitchFamily="34" charset="-120"/>
              </a:rPr>
              <a:t>Implementation Details</a:t>
            </a:r>
            <a:endParaRPr lang="en-US" sz="900" dirty="0"/>
          </a:p>
        </p:txBody>
      </p:sp>
      <p:sp>
        <p:nvSpPr>
          <p:cNvPr id="15" name="Text 1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900" dirty="0">
                <a:solidFill>
                  <a:srgbClr val="56736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AF9"/>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4B4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4" name="Text 2"/>
          <p:cNvSpPr txBox="1"/>
          <p:nvPr/>
        </p:nvSpPr>
        <p:spPr>
          <a:xfrm>
            <a:off x="1325880" y="411480"/>
            <a:ext cx="9601200" cy="640080"/>
          </a:xfrm>
          <a:prstGeom prst="rect">
            <a:avLst/>
          </a:prstGeom>
          <a:noFill/>
          <a:ln/>
        </p:spPr>
        <p:txBody>
          <a:bodyPr wrap="square" lIns="0" tIns="0" rIns="0" bIns="0" rtlCol="0" anchor="ctr"/>
          <a:lstStyle/>
          <a:p>
            <a:pPr algn="l" indent="0" marL="0">
              <a:buNone/>
            </a:pPr>
            <a:r>
              <a:rPr lang="en-US" sz="3000" b="1" dirty="0">
                <a:solidFill>
                  <a:srgbClr val="16302F"/>
                </a:solidFill>
                <a:latin typeface="Cambria" pitchFamily="34" charset="0"/>
                <a:ea typeface="Cambria" pitchFamily="34" charset="-122"/>
                <a:cs typeface="Cambria" pitchFamily="34" charset="-120"/>
              </a:rPr>
              <a:t>Output — Doctors, Patients &amp; Booking</a:t>
            </a:r>
            <a:endParaRPr lang="en-US" sz="3000" dirty="0"/>
          </a:p>
        </p:txBody>
      </p:sp>
      <p:sp>
        <p:nvSpPr>
          <p:cNvPr id="5" name="Shape 3"/>
          <p:cNvSpPr/>
          <p:nvPr/>
        </p:nvSpPr>
        <p:spPr>
          <a:xfrm>
            <a:off x="1325880" y="987552"/>
            <a:ext cx="3503981" cy="310896"/>
          </a:xfrm>
          <a:prstGeom prst="roundRect">
            <a:avLst>
              <a:gd name="adj" fmla="val 50000"/>
            </a:avLst>
          </a:prstGeom>
          <a:solidFill>
            <a:srgbClr val="FF7A59"/>
          </a:solidFill>
          <a:ln/>
        </p:spPr>
      </p:sp>
      <p:sp>
        <p:nvSpPr>
          <p:cNvPr id="6" name="Text 4"/>
          <p:cNvSpPr txBox="1"/>
          <p:nvPr/>
        </p:nvSpPr>
        <p:spPr>
          <a:xfrm>
            <a:off x="1325880" y="987552"/>
            <a:ext cx="3503981"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Menu, registry views and a live booking</a:t>
            </a:r>
            <a:endParaRPr lang="en-US" sz="1050" dirty="0"/>
          </a:p>
        </p:txBody>
      </p:sp>
      <p:sp>
        <p:nvSpPr>
          <p:cNvPr id="7" name="Shape 5"/>
          <p:cNvSpPr/>
          <p:nvPr/>
        </p:nvSpPr>
        <p:spPr>
          <a:xfrm>
            <a:off x="548640" y="1463040"/>
            <a:ext cx="5408676" cy="347472"/>
          </a:xfrm>
          <a:prstGeom prst="roundRect">
            <a:avLst>
              <a:gd name="adj" fmla="val 18421"/>
            </a:avLst>
          </a:prstGeom>
          <a:solidFill>
            <a:srgbClr val="15151F"/>
          </a:solidFill>
          <a:ln/>
        </p:spPr>
      </p:sp>
      <p:sp>
        <p:nvSpPr>
          <p:cNvPr id="8" name="Shape 6"/>
          <p:cNvSpPr/>
          <p:nvPr/>
        </p:nvSpPr>
        <p:spPr>
          <a:xfrm>
            <a:off x="713232" y="1572768"/>
            <a:ext cx="118872" cy="118872"/>
          </a:xfrm>
          <a:prstGeom prst="ellipse">
            <a:avLst/>
          </a:prstGeom>
          <a:solidFill>
            <a:srgbClr val="E06C75"/>
          </a:solidFill>
          <a:ln/>
        </p:spPr>
      </p:sp>
      <p:sp>
        <p:nvSpPr>
          <p:cNvPr id="9" name="Shape 7"/>
          <p:cNvSpPr/>
          <p:nvPr/>
        </p:nvSpPr>
        <p:spPr>
          <a:xfrm>
            <a:off x="950976" y="1572768"/>
            <a:ext cx="118872" cy="118872"/>
          </a:xfrm>
          <a:prstGeom prst="ellipse">
            <a:avLst/>
          </a:prstGeom>
          <a:solidFill>
            <a:srgbClr val="E5C07B"/>
          </a:solidFill>
          <a:ln/>
        </p:spPr>
      </p:sp>
      <p:sp>
        <p:nvSpPr>
          <p:cNvPr id="10" name="Shape 8"/>
          <p:cNvSpPr/>
          <p:nvPr/>
        </p:nvSpPr>
        <p:spPr>
          <a:xfrm>
            <a:off x="1188720" y="1572768"/>
            <a:ext cx="118872" cy="118872"/>
          </a:xfrm>
          <a:prstGeom prst="ellipse">
            <a:avLst/>
          </a:prstGeom>
          <a:solidFill>
            <a:srgbClr val="98C379"/>
          </a:solidFill>
          <a:ln/>
        </p:spPr>
      </p:sp>
      <p:sp>
        <p:nvSpPr>
          <p:cNvPr id="11" name="Text 9"/>
          <p:cNvSpPr txBox="1"/>
          <p:nvPr/>
        </p:nvSpPr>
        <p:spPr>
          <a:xfrm>
            <a:off x="548640" y="1463040"/>
            <a:ext cx="5408676" cy="347472"/>
          </a:xfrm>
          <a:prstGeom prst="rect">
            <a:avLst/>
          </a:prstGeom>
          <a:noFill/>
          <a:ln/>
        </p:spPr>
        <p:txBody>
          <a:bodyPr wrap="square" lIns="0" tIns="0" rIns="0" bIns="0" rtlCol="0" anchor="ctr"/>
          <a:lstStyle/>
          <a:p>
            <a:pPr algn="ctr" indent="0" marL="0">
              <a:buNone/>
            </a:pPr>
            <a:r>
              <a:rPr lang="en-US" sz="1050" dirty="0">
                <a:solidFill>
                  <a:srgbClr val="9AA5B1"/>
                </a:solidFill>
                <a:latin typeface="Courier New" pitchFamily="34" charset="0"/>
                <a:ea typeface="Courier New" pitchFamily="34" charset="-122"/>
                <a:cs typeface="Courier New" pitchFamily="34" charset="-120"/>
              </a:rPr>
              <a:t>clinic &gt; Doctors &amp; Patients</a:t>
            </a:r>
            <a:endParaRPr lang="en-US" sz="1050" dirty="0"/>
          </a:p>
        </p:txBody>
      </p:sp>
      <p:sp>
        <p:nvSpPr>
          <p:cNvPr id="12" name="Shape 10"/>
          <p:cNvSpPr/>
          <p:nvPr/>
        </p:nvSpPr>
        <p:spPr>
          <a:xfrm>
            <a:off x="548640" y="1810512"/>
            <a:ext cx="5408676" cy="4590288"/>
          </a:xfrm>
          <a:prstGeom prst="rect">
            <a:avLst/>
          </a:prstGeom>
          <a:solidFill>
            <a:srgbClr val="1E1E2E"/>
          </a:solidFill>
          <a:ln/>
        </p:spPr>
      </p:sp>
      <p:sp>
        <p:nvSpPr>
          <p:cNvPr id="13" name="Text 11"/>
          <p:cNvSpPr txBox="1"/>
          <p:nvPr/>
        </p:nvSpPr>
        <p:spPr>
          <a:xfrm>
            <a:off x="713232" y="1920240"/>
            <a:ext cx="5079492" cy="4334256"/>
          </a:xfrm>
          <a:prstGeom prst="rect">
            <a:avLst/>
          </a:prstGeom>
          <a:noFill/>
          <a:ln/>
        </p:spPr>
        <p:txBody>
          <a:bodyPr wrap="square" lIns="0" tIns="0" rIns="0" bIns="0" rtlCol="0" anchor="t"/>
          <a:lstStyle/>
          <a:p>
            <a:pPr algn="l" indent="0" marL="0">
              <a:lnSpc>
                <a:spcPct val="108000"/>
              </a:lnSpc>
              <a:buNone/>
            </a:pPr>
            <a:r>
              <a:rPr lang="en-US" sz="960" dirty="0">
                <a:solidFill>
                  <a:srgbClr val="61AFEF"/>
                </a:solidFill>
                <a:latin typeface="Courier New" pitchFamily="34" charset="0"/>
                <a:ea typeface="Courier New" pitchFamily="34" charset="-122"/>
                <a:cs typeface="Courier New" pitchFamily="34" charset="-120"/>
              </a:rPr>
              <a:t>========================================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  CLINIC APPOINTMENT &amp; PRESCRIPTION MANAGER
</a:t>
            </a:r>
            <a:pPr algn="l" indent="0" marL="0">
              <a:lnSpc>
                <a:spcPct val="108000"/>
              </a:lnSpc>
              <a:buNone/>
            </a:pPr>
            <a:r>
              <a:rPr lang="en-US" sz="960" dirty="0">
                <a:solidFill>
                  <a:srgbClr val="61AFEF"/>
                </a:solidFill>
                <a:latin typeface="Courier New" pitchFamily="34" charset="0"/>
                <a:ea typeface="Courier New" pitchFamily="34" charset="-122"/>
                <a:cs typeface="Courier New" pitchFamily="34" charset="-120"/>
              </a:rPr>
              <a:t>========================================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1. View Doctors   2. View Patients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3. Book Appointment ...  0. Exit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Enter your choice: 1
</a:t>
            </a:r>
            <a:pPr algn="l" indent="0" marL="0">
              <a:lnSpc>
                <a:spcPct val="108000"/>
              </a:lnSpc>
              <a:buNone/>
            </a:pPr>
            <a:r>
              <a:rPr lang="en-US" sz="960" dirty="0">
                <a:solidFill>
                  <a:srgbClr val="61AFEF"/>
                </a:solidFill>
                <a:latin typeface="Courier New" pitchFamily="34" charset="0"/>
                <a:ea typeface="Courier New" pitchFamily="34" charset="-122"/>
                <a:cs typeface="Courier New" pitchFamily="34" charset="-120"/>
              </a:rPr>
              <a:t>--- Doctors ---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[D1] Dr. Asha Rao   | Age:41 | Cardiology  | Free slots:7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[D2] Dr. Vikram Shah| Age:37 | Dermatology | Free slots:7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[D3] Dr. Neha Iyer  | Age:33 | Pediatrics  | Free slots:8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Enter your choice: 2
</a:t>
            </a:r>
            <a:pPr algn="l" indent="0" marL="0">
              <a:lnSpc>
                <a:spcPct val="108000"/>
              </a:lnSpc>
              <a:buNone/>
            </a:pPr>
            <a:r>
              <a:rPr lang="en-US" sz="960" dirty="0">
                <a:solidFill>
                  <a:srgbClr val="61AFEF"/>
                </a:solidFill>
                <a:latin typeface="Courier New" pitchFamily="34" charset="0"/>
                <a:ea typeface="Courier New" pitchFamily="34" charset="-122"/>
                <a:cs typeface="Courier New" pitchFamily="34" charset="-120"/>
              </a:rPr>
              <a:t>--- Patients ---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[P1] Rahul Verma    | Age:29 | Blood:B+ | Allergies: None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[P2] Sneha Kulkarni | Age:45 | Blood:O+ | Allergies: Penicillin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[P3] Aman Gupta     | Age:8  | Blood:A+ | Allergies: None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Average patient age: 27.33</a:t>
            </a:r>
            <a:endParaRPr lang="en-US" sz="960" dirty="0"/>
          </a:p>
        </p:txBody>
      </p:sp>
      <p:sp>
        <p:nvSpPr>
          <p:cNvPr id="14" name="Shape 12"/>
          <p:cNvSpPr/>
          <p:nvPr/>
        </p:nvSpPr>
        <p:spPr>
          <a:xfrm>
            <a:off x="6231636" y="1463040"/>
            <a:ext cx="5408676" cy="347472"/>
          </a:xfrm>
          <a:prstGeom prst="roundRect">
            <a:avLst>
              <a:gd name="adj" fmla="val 18421"/>
            </a:avLst>
          </a:prstGeom>
          <a:solidFill>
            <a:srgbClr val="15151F"/>
          </a:solidFill>
          <a:ln/>
        </p:spPr>
      </p:sp>
      <p:sp>
        <p:nvSpPr>
          <p:cNvPr id="15" name="Shape 13"/>
          <p:cNvSpPr/>
          <p:nvPr/>
        </p:nvSpPr>
        <p:spPr>
          <a:xfrm>
            <a:off x="6396228" y="1572768"/>
            <a:ext cx="118872" cy="118872"/>
          </a:xfrm>
          <a:prstGeom prst="ellipse">
            <a:avLst/>
          </a:prstGeom>
          <a:solidFill>
            <a:srgbClr val="E06C75"/>
          </a:solidFill>
          <a:ln/>
        </p:spPr>
      </p:sp>
      <p:sp>
        <p:nvSpPr>
          <p:cNvPr id="16" name="Shape 14"/>
          <p:cNvSpPr/>
          <p:nvPr/>
        </p:nvSpPr>
        <p:spPr>
          <a:xfrm>
            <a:off x="6633972" y="1572768"/>
            <a:ext cx="118872" cy="118872"/>
          </a:xfrm>
          <a:prstGeom prst="ellipse">
            <a:avLst/>
          </a:prstGeom>
          <a:solidFill>
            <a:srgbClr val="E5C07B"/>
          </a:solidFill>
          <a:ln/>
        </p:spPr>
      </p:sp>
      <p:sp>
        <p:nvSpPr>
          <p:cNvPr id="17" name="Shape 15"/>
          <p:cNvSpPr/>
          <p:nvPr/>
        </p:nvSpPr>
        <p:spPr>
          <a:xfrm>
            <a:off x="6871716" y="1572768"/>
            <a:ext cx="118872" cy="118872"/>
          </a:xfrm>
          <a:prstGeom prst="ellipse">
            <a:avLst/>
          </a:prstGeom>
          <a:solidFill>
            <a:srgbClr val="98C379"/>
          </a:solidFill>
          <a:ln/>
        </p:spPr>
      </p:sp>
      <p:sp>
        <p:nvSpPr>
          <p:cNvPr id="18" name="Text 16"/>
          <p:cNvSpPr txBox="1"/>
          <p:nvPr/>
        </p:nvSpPr>
        <p:spPr>
          <a:xfrm>
            <a:off x="6231636" y="1463040"/>
            <a:ext cx="5408676" cy="347472"/>
          </a:xfrm>
          <a:prstGeom prst="rect">
            <a:avLst/>
          </a:prstGeom>
          <a:noFill/>
          <a:ln/>
        </p:spPr>
        <p:txBody>
          <a:bodyPr wrap="square" lIns="0" tIns="0" rIns="0" bIns="0" rtlCol="0" anchor="ctr"/>
          <a:lstStyle/>
          <a:p>
            <a:pPr algn="ctr" indent="0" marL="0">
              <a:buNone/>
            </a:pPr>
            <a:r>
              <a:rPr lang="en-US" sz="1050" dirty="0">
                <a:solidFill>
                  <a:srgbClr val="9AA5B1"/>
                </a:solidFill>
                <a:latin typeface="Courier New" pitchFamily="34" charset="0"/>
                <a:ea typeface="Courier New" pitchFamily="34" charset="-122"/>
                <a:cs typeface="Courier New" pitchFamily="34" charset="-120"/>
              </a:rPr>
              <a:t>clinic &gt; Book Appointment</a:t>
            </a:r>
            <a:endParaRPr lang="en-US" sz="1050" dirty="0"/>
          </a:p>
        </p:txBody>
      </p:sp>
      <p:sp>
        <p:nvSpPr>
          <p:cNvPr id="19" name="Shape 17"/>
          <p:cNvSpPr/>
          <p:nvPr/>
        </p:nvSpPr>
        <p:spPr>
          <a:xfrm>
            <a:off x="6231636" y="1810512"/>
            <a:ext cx="5408676" cy="4590288"/>
          </a:xfrm>
          <a:prstGeom prst="rect">
            <a:avLst/>
          </a:prstGeom>
          <a:solidFill>
            <a:srgbClr val="1E1E2E"/>
          </a:solidFill>
          <a:ln/>
        </p:spPr>
      </p:sp>
      <p:sp>
        <p:nvSpPr>
          <p:cNvPr id="20" name="Text 18"/>
          <p:cNvSpPr txBox="1"/>
          <p:nvPr/>
        </p:nvSpPr>
        <p:spPr>
          <a:xfrm>
            <a:off x="6396228" y="1920240"/>
            <a:ext cx="5079492" cy="4334256"/>
          </a:xfrm>
          <a:prstGeom prst="rect">
            <a:avLst/>
          </a:prstGeom>
          <a:noFill/>
          <a:ln/>
        </p:spPr>
        <p:txBody>
          <a:bodyPr wrap="square" lIns="0" tIns="0" rIns="0" bIns="0" rtlCol="0" anchor="t"/>
          <a:lstStyle/>
          <a:p>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Enter your choice: 3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Patient ID (e.g. P1): P3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Doctor ID (e.g. D1): D3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Slot index (0-7): 1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Days from now: 3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Booked successfully: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APT1003 | Patient:P3 | Doctor:D3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2026-09-22 slot#1 | BOOKED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Booking attempt finished at 2026-09-19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Enter your choice: 4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1. APT1001 | P1 -&gt; D1 | 2026-09-20 slot#2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2. APT1002 | P2 -&gt; D2 | 2026-09-21 slot#0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3. APT1003 | P3 -&gt; D3 | 2026-09-22 slot#1</a:t>
            </a:r>
            <a:endParaRPr lang="en-US" sz="960" dirty="0"/>
          </a:p>
        </p:txBody>
      </p:sp>
      <p:sp>
        <p:nvSpPr>
          <p:cNvPr id="21" name="Text 19"/>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6736F"/>
                </a:solidFill>
                <a:latin typeface="Calibri" pitchFamily="34" charset="0"/>
                <a:ea typeface="Calibri" pitchFamily="34" charset="-122"/>
                <a:cs typeface="Calibri" pitchFamily="34" charset="-120"/>
              </a:rPr>
              <a:t>Sample Output</a:t>
            </a:r>
            <a:endParaRPr lang="en-US" sz="900" dirty="0"/>
          </a:p>
        </p:txBody>
      </p:sp>
      <p:sp>
        <p:nvSpPr>
          <p:cNvPr id="22" name="Text 20"/>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900" dirty="0">
                <a:solidFill>
                  <a:srgbClr val="56736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AF9"/>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4B4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4" name="Text 2"/>
          <p:cNvSpPr txBox="1"/>
          <p:nvPr/>
        </p:nvSpPr>
        <p:spPr>
          <a:xfrm>
            <a:off x="1325880" y="411480"/>
            <a:ext cx="9601200" cy="640080"/>
          </a:xfrm>
          <a:prstGeom prst="rect">
            <a:avLst/>
          </a:prstGeom>
          <a:noFill/>
          <a:ln/>
        </p:spPr>
        <p:txBody>
          <a:bodyPr wrap="square" lIns="0" tIns="0" rIns="0" bIns="0" rtlCol="0" anchor="ctr"/>
          <a:lstStyle/>
          <a:p>
            <a:pPr algn="l" indent="0" marL="0">
              <a:buNone/>
            </a:pPr>
            <a:r>
              <a:rPr lang="en-US" sz="3000" b="1" dirty="0">
                <a:solidFill>
                  <a:srgbClr val="16302F"/>
                </a:solidFill>
                <a:latin typeface="Cambria" pitchFamily="34" charset="0"/>
                <a:ea typeface="Cambria" pitchFamily="34" charset="-122"/>
                <a:cs typeface="Cambria" pitchFamily="34" charset="-120"/>
              </a:rPr>
              <a:t>Output — Prescription &amp; Billing</a:t>
            </a:r>
            <a:endParaRPr lang="en-US" sz="3000" dirty="0"/>
          </a:p>
        </p:txBody>
      </p:sp>
      <p:sp>
        <p:nvSpPr>
          <p:cNvPr id="5" name="Shape 3"/>
          <p:cNvSpPr/>
          <p:nvPr/>
        </p:nvSpPr>
        <p:spPr>
          <a:xfrm>
            <a:off x="1325880" y="987552"/>
            <a:ext cx="4067251" cy="310896"/>
          </a:xfrm>
          <a:prstGeom prst="roundRect">
            <a:avLst>
              <a:gd name="adj" fmla="val 50000"/>
            </a:avLst>
          </a:prstGeom>
          <a:solidFill>
            <a:srgbClr val="FF7A59"/>
          </a:solidFill>
          <a:ln/>
        </p:spPr>
      </p:sp>
      <p:sp>
        <p:nvSpPr>
          <p:cNvPr id="6" name="Text 4"/>
          <p:cNvSpPr txBox="1"/>
          <p:nvPr/>
        </p:nvSpPr>
        <p:spPr>
          <a:xfrm>
            <a:off x="1325880" y="987552"/>
            <a:ext cx="4067251"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Prescription generation and the operators demo</a:t>
            </a:r>
            <a:endParaRPr lang="en-US" sz="1050" dirty="0"/>
          </a:p>
        </p:txBody>
      </p:sp>
      <p:sp>
        <p:nvSpPr>
          <p:cNvPr id="7" name="Shape 5"/>
          <p:cNvSpPr/>
          <p:nvPr/>
        </p:nvSpPr>
        <p:spPr>
          <a:xfrm>
            <a:off x="548640" y="1463040"/>
            <a:ext cx="5408676" cy="347472"/>
          </a:xfrm>
          <a:prstGeom prst="roundRect">
            <a:avLst>
              <a:gd name="adj" fmla="val 18421"/>
            </a:avLst>
          </a:prstGeom>
          <a:solidFill>
            <a:srgbClr val="15151F"/>
          </a:solidFill>
          <a:ln/>
        </p:spPr>
      </p:sp>
      <p:sp>
        <p:nvSpPr>
          <p:cNvPr id="8" name="Shape 6"/>
          <p:cNvSpPr/>
          <p:nvPr/>
        </p:nvSpPr>
        <p:spPr>
          <a:xfrm>
            <a:off x="713232" y="1572768"/>
            <a:ext cx="118872" cy="118872"/>
          </a:xfrm>
          <a:prstGeom prst="ellipse">
            <a:avLst/>
          </a:prstGeom>
          <a:solidFill>
            <a:srgbClr val="E06C75"/>
          </a:solidFill>
          <a:ln/>
        </p:spPr>
      </p:sp>
      <p:sp>
        <p:nvSpPr>
          <p:cNvPr id="9" name="Shape 7"/>
          <p:cNvSpPr/>
          <p:nvPr/>
        </p:nvSpPr>
        <p:spPr>
          <a:xfrm>
            <a:off x="950976" y="1572768"/>
            <a:ext cx="118872" cy="118872"/>
          </a:xfrm>
          <a:prstGeom prst="ellipse">
            <a:avLst/>
          </a:prstGeom>
          <a:solidFill>
            <a:srgbClr val="E5C07B"/>
          </a:solidFill>
          <a:ln/>
        </p:spPr>
      </p:sp>
      <p:sp>
        <p:nvSpPr>
          <p:cNvPr id="10" name="Shape 8"/>
          <p:cNvSpPr/>
          <p:nvPr/>
        </p:nvSpPr>
        <p:spPr>
          <a:xfrm>
            <a:off x="1188720" y="1572768"/>
            <a:ext cx="118872" cy="118872"/>
          </a:xfrm>
          <a:prstGeom prst="ellipse">
            <a:avLst/>
          </a:prstGeom>
          <a:solidFill>
            <a:srgbClr val="98C379"/>
          </a:solidFill>
          <a:ln/>
        </p:spPr>
      </p:sp>
      <p:sp>
        <p:nvSpPr>
          <p:cNvPr id="11" name="Text 9"/>
          <p:cNvSpPr txBox="1"/>
          <p:nvPr/>
        </p:nvSpPr>
        <p:spPr>
          <a:xfrm>
            <a:off x="548640" y="1463040"/>
            <a:ext cx="5408676" cy="347472"/>
          </a:xfrm>
          <a:prstGeom prst="rect">
            <a:avLst/>
          </a:prstGeom>
          <a:noFill/>
          <a:ln/>
        </p:spPr>
        <p:txBody>
          <a:bodyPr wrap="square" lIns="0" tIns="0" rIns="0" bIns="0" rtlCol="0" anchor="ctr"/>
          <a:lstStyle/>
          <a:p>
            <a:pPr algn="ctr" indent="0" marL="0">
              <a:buNone/>
            </a:pPr>
            <a:r>
              <a:rPr lang="en-US" sz="1050" dirty="0">
                <a:solidFill>
                  <a:srgbClr val="9AA5B1"/>
                </a:solidFill>
                <a:latin typeface="Courier New" pitchFamily="34" charset="0"/>
                <a:ea typeface="Courier New" pitchFamily="34" charset="-122"/>
                <a:cs typeface="Courier New" pitchFamily="34" charset="-120"/>
              </a:rPr>
              <a:t>clinic &gt; Generate Prescription</a:t>
            </a:r>
            <a:endParaRPr lang="en-US" sz="1050" dirty="0"/>
          </a:p>
        </p:txBody>
      </p:sp>
      <p:sp>
        <p:nvSpPr>
          <p:cNvPr id="12" name="Shape 10"/>
          <p:cNvSpPr/>
          <p:nvPr/>
        </p:nvSpPr>
        <p:spPr>
          <a:xfrm>
            <a:off x="548640" y="1810512"/>
            <a:ext cx="5408676" cy="4590288"/>
          </a:xfrm>
          <a:prstGeom prst="rect">
            <a:avLst/>
          </a:prstGeom>
          <a:solidFill>
            <a:srgbClr val="1E1E2E"/>
          </a:solidFill>
          <a:ln/>
        </p:spPr>
      </p:sp>
      <p:sp>
        <p:nvSpPr>
          <p:cNvPr id="13" name="Text 11"/>
          <p:cNvSpPr txBox="1"/>
          <p:nvPr/>
        </p:nvSpPr>
        <p:spPr>
          <a:xfrm>
            <a:off x="713232" y="1920240"/>
            <a:ext cx="5079492" cy="4334256"/>
          </a:xfrm>
          <a:prstGeom prst="rect">
            <a:avLst/>
          </a:prstGeom>
          <a:noFill/>
          <a:ln/>
        </p:spPr>
        <p:txBody>
          <a:bodyPr wrap="square" lIns="0" tIns="0" rIns="0" bIns="0" rtlCol="0" anchor="t"/>
          <a:lstStyle/>
          <a:p>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Enter your choice: 5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Prescription for Appointment: APT1001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Doctor's Notes: Rest and hydration advised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Medicines: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  - Paracetamol (500mg) x2/day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  - Vitamin C (500mg) x1/day</a:t>
            </a:r>
            <a:endParaRPr lang="en-US" sz="960" dirty="0"/>
          </a:p>
        </p:txBody>
      </p:sp>
      <p:sp>
        <p:nvSpPr>
          <p:cNvPr id="14" name="Shape 12"/>
          <p:cNvSpPr/>
          <p:nvPr/>
        </p:nvSpPr>
        <p:spPr>
          <a:xfrm>
            <a:off x="6231636" y="1463040"/>
            <a:ext cx="5408676" cy="347472"/>
          </a:xfrm>
          <a:prstGeom prst="roundRect">
            <a:avLst>
              <a:gd name="adj" fmla="val 18421"/>
            </a:avLst>
          </a:prstGeom>
          <a:solidFill>
            <a:srgbClr val="15151F"/>
          </a:solidFill>
          <a:ln/>
        </p:spPr>
      </p:sp>
      <p:sp>
        <p:nvSpPr>
          <p:cNvPr id="15" name="Shape 13"/>
          <p:cNvSpPr/>
          <p:nvPr/>
        </p:nvSpPr>
        <p:spPr>
          <a:xfrm>
            <a:off x="6396228" y="1572768"/>
            <a:ext cx="118872" cy="118872"/>
          </a:xfrm>
          <a:prstGeom prst="ellipse">
            <a:avLst/>
          </a:prstGeom>
          <a:solidFill>
            <a:srgbClr val="E06C75"/>
          </a:solidFill>
          <a:ln/>
        </p:spPr>
      </p:sp>
      <p:sp>
        <p:nvSpPr>
          <p:cNvPr id="16" name="Shape 14"/>
          <p:cNvSpPr/>
          <p:nvPr/>
        </p:nvSpPr>
        <p:spPr>
          <a:xfrm>
            <a:off x="6633972" y="1572768"/>
            <a:ext cx="118872" cy="118872"/>
          </a:xfrm>
          <a:prstGeom prst="ellipse">
            <a:avLst/>
          </a:prstGeom>
          <a:solidFill>
            <a:srgbClr val="E5C07B"/>
          </a:solidFill>
          <a:ln/>
        </p:spPr>
      </p:sp>
      <p:sp>
        <p:nvSpPr>
          <p:cNvPr id="17" name="Shape 15"/>
          <p:cNvSpPr/>
          <p:nvPr/>
        </p:nvSpPr>
        <p:spPr>
          <a:xfrm>
            <a:off x="6871716" y="1572768"/>
            <a:ext cx="118872" cy="118872"/>
          </a:xfrm>
          <a:prstGeom prst="ellipse">
            <a:avLst/>
          </a:prstGeom>
          <a:solidFill>
            <a:srgbClr val="98C379"/>
          </a:solidFill>
          <a:ln/>
        </p:spPr>
      </p:sp>
      <p:sp>
        <p:nvSpPr>
          <p:cNvPr id="18" name="Text 16"/>
          <p:cNvSpPr txBox="1"/>
          <p:nvPr/>
        </p:nvSpPr>
        <p:spPr>
          <a:xfrm>
            <a:off x="6231636" y="1463040"/>
            <a:ext cx="5408676" cy="347472"/>
          </a:xfrm>
          <a:prstGeom prst="rect">
            <a:avLst/>
          </a:prstGeom>
          <a:noFill/>
          <a:ln/>
        </p:spPr>
        <p:txBody>
          <a:bodyPr wrap="square" lIns="0" tIns="0" rIns="0" bIns="0" rtlCol="0" anchor="ctr"/>
          <a:lstStyle/>
          <a:p>
            <a:pPr algn="ctr" indent="0" marL="0">
              <a:buNone/>
            </a:pPr>
            <a:r>
              <a:rPr lang="en-US" sz="1050" dirty="0">
                <a:solidFill>
                  <a:srgbClr val="9AA5B1"/>
                </a:solidFill>
                <a:latin typeface="Courier New" pitchFamily="34" charset="0"/>
                <a:ea typeface="Courier New" pitchFamily="34" charset="-122"/>
                <a:cs typeface="Courier New" pitchFamily="34" charset="-120"/>
              </a:rPr>
              <a:t>clinic &gt; Billing Calculator</a:t>
            </a:r>
            <a:endParaRPr lang="en-US" sz="1050" dirty="0"/>
          </a:p>
        </p:txBody>
      </p:sp>
      <p:sp>
        <p:nvSpPr>
          <p:cNvPr id="19" name="Shape 17"/>
          <p:cNvSpPr/>
          <p:nvPr/>
        </p:nvSpPr>
        <p:spPr>
          <a:xfrm>
            <a:off x="6231636" y="1810512"/>
            <a:ext cx="5408676" cy="4590288"/>
          </a:xfrm>
          <a:prstGeom prst="rect">
            <a:avLst/>
          </a:prstGeom>
          <a:solidFill>
            <a:srgbClr val="1E1E2E"/>
          </a:solidFill>
          <a:ln/>
        </p:spPr>
      </p:sp>
      <p:sp>
        <p:nvSpPr>
          <p:cNvPr id="20" name="Text 18"/>
          <p:cNvSpPr txBox="1"/>
          <p:nvPr/>
        </p:nvSpPr>
        <p:spPr>
          <a:xfrm>
            <a:off x="6396228" y="1920240"/>
            <a:ext cx="5079492" cy="4334256"/>
          </a:xfrm>
          <a:prstGeom prst="rect">
            <a:avLst/>
          </a:prstGeom>
          <a:noFill/>
          <a:ln/>
        </p:spPr>
        <p:txBody>
          <a:bodyPr wrap="square" lIns="0" tIns="0" rIns="0" bIns="0" rtlCol="0" anchor="t"/>
          <a:lstStyle/>
          <a:p>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Enter your choice: 6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Number of medicines prescribed: 2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Is patient insured? (yes/no): yes
</a:t>
            </a:r>
            <a:pPr algn="l" indent="0" marL="0">
              <a:lnSpc>
                <a:spcPct val="108000"/>
              </a:lnSpc>
              <a:buNone/>
            </a:pPr>
            <a:r>
              <a:rPr lang="en-US" sz="960" dirty="0">
                <a:solidFill>
                  <a:srgbClr val="61AFEF"/>
                </a:solidFill>
                <a:latin typeface="Courier New" pitchFamily="34" charset="0"/>
                <a:ea typeface="Courier New" pitchFamily="34" charset="-122"/>
                <a:cs typeface="Courier New" pitchFamily="34" charset="-120"/>
              </a:rPr>
              <a:t>--- Bill Summary ---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Consultation Fee : Rs. 500.00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Medicine Cost     : Rs. 80.00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Tax (5%)          : Rs. 29.00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Discount          : Rs. 116.00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Total (rounded)   : Rs. 493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Loyalty bonus applies: false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Flag bits: 1 | masked: 1 | shifted: 2</a:t>
            </a:r>
            <a:endParaRPr lang="en-US" sz="960" dirty="0"/>
          </a:p>
        </p:txBody>
      </p:sp>
      <p:sp>
        <p:nvSpPr>
          <p:cNvPr id="21" name="Text 19"/>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6736F"/>
                </a:solidFill>
                <a:latin typeface="Calibri" pitchFamily="34" charset="0"/>
                <a:ea typeface="Calibri" pitchFamily="34" charset="-122"/>
                <a:cs typeface="Calibri" pitchFamily="34" charset="-120"/>
              </a:rPr>
              <a:t>Sample Output</a:t>
            </a:r>
            <a:endParaRPr lang="en-US" sz="900" dirty="0"/>
          </a:p>
        </p:txBody>
      </p:sp>
      <p:sp>
        <p:nvSpPr>
          <p:cNvPr id="22" name="Text 20"/>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900" dirty="0">
                <a:solidFill>
                  <a:srgbClr val="56736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AF9"/>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4B4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4" name="Text 2"/>
          <p:cNvSpPr txBox="1"/>
          <p:nvPr/>
        </p:nvSpPr>
        <p:spPr>
          <a:xfrm>
            <a:off x="1325880" y="411480"/>
            <a:ext cx="9601200" cy="640080"/>
          </a:xfrm>
          <a:prstGeom prst="rect">
            <a:avLst/>
          </a:prstGeom>
          <a:noFill/>
          <a:ln/>
        </p:spPr>
        <p:txBody>
          <a:bodyPr wrap="square" lIns="0" tIns="0" rIns="0" bIns="0" rtlCol="0" anchor="ctr"/>
          <a:lstStyle/>
          <a:p>
            <a:pPr algn="l" indent="0" marL="0">
              <a:buNone/>
            </a:pPr>
            <a:r>
              <a:rPr lang="en-US" sz="3000" b="1" dirty="0">
                <a:solidFill>
                  <a:srgbClr val="16302F"/>
                </a:solidFill>
                <a:latin typeface="Cambria" pitchFamily="34" charset="0"/>
                <a:ea typeface="Cambria" pitchFamily="34" charset="-122"/>
                <a:cs typeface="Cambria" pitchFamily="34" charset="-120"/>
              </a:rPr>
              <a:t>Output — Reports, Analytics &amp; File I/O</a:t>
            </a:r>
            <a:endParaRPr lang="en-US" sz="3000" dirty="0"/>
          </a:p>
        </p:txBody>
      </p:sp>
      <p:sp>
        <p:nvSpPr>
          <p:cNvPr id="5" name="Shape 3"/>
          <p:cNvSpPr/>
          <p:nvPr/>
        </p:nvSpPr>
        <p:spPr>
          <a:xfrm>
            <a:off x="1325880" y="987552"/>
            <a:ext cx="3825850" cy="310896"/>
          </a:xfrm>
          <a:prstGeom prst="roundRect">
            <a:avLst>
              <a:gd name="adj" fmla="val 50000"/>
            </a:avLst>
          </a:prstGeom>
          <a:solidFill>
            <a:srgbClr val="FF7A59"/>
          </a:solidFill>
          <a:ln/>
        </p:spPr>
      </p:sp>
      <p:sp>
        <p:nvSpPr>
          <p:cNvPr id="6" name="Text 4"/>
          <p:cNvSpPr txBox="1"/>
          <p:nvPr/>
        </p:nvSpPr>
        <p:spPr>
          <a:xfrm>
            <a:off x="1325880" y="987552"/>
            <a:ext cx="382585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Stream pipelines, recursion and persistence</a:t>
            </a:r>
            <a:endParaRPr lang="en-US" sz="1050" dirty="0"/>
          </a:p>
        </p:txBody>
      </p:sp>
      <p:sp>
        <p:nvSpPr>
          <p:cNvPr id="7" name="Shape 5"/>
          <p:cNvSpPr/>
          <p:nvPr/>
        </p:nvSpPr>
        <p:spPr>
          <a:xfrm>
            <a:off x="548640" y="1463040"/>
            <a:ext cx="5408676" cy="347472"/>
          </a:xfrm>
          <a:prstGeom prst="roundRect">
            <a:avLst>
              <a:gd name="adj" fmla="val 18421"/>
            </a:avLst>
          </a:prstGeom>
          <a:solidFill>
            <a:srgbClr val="15151F"/>
          </a:solidFill>
          <a:ln/>
        </p:spPr>
      </p:sp>
      <p:sp>
        <p:nvSpPr>
          <p:cNvPr id="8" name="Shape 6"/>
          <p:cNvSpPr/>
          <p:nvPr/>
        </p:nvSpPr>
        <p:spPr>
          <a:xfrm>
            <a:off x="713232" y="1572768"/>
            <a:ext cx="118872" cy="118872"/>
          </a:xfrm>
          <a:prstGeom prst="ellipse">
            <a:avLst/>
          </a:prstGeom>
          <a:solidFill>
            <a:srgbClr val="E06C75"/>
          </a:solidFill>
          <a:ln/>
        </p:spPr>
      </p:sp>
      <p:sp>
        <p:nvSpPr>
          <p:cNvPr id="9" name="Shape 7"/>
          <p:cNvSpPr/>
          <p:nvPr/>
        </p:nvSpPr>
        <p:spPr>
          <a:xfrm>
            <a:off x="950976" y="1572768"/>
            <a:ext cx="118872" cy="118872"/>
          </a:xfrm>
          <a:prstGeom prst="ellipse">
            <a:avLst/>
          </a:prstGeom>
          <a:solidFill>
            <a:srgbClr val="E5C07B"/>
          </a:solidFill>
          <a:ln/>
        </p:spPr>
      </p:sp>
      <p:sp>
        <p:nvSpPr>
          <p:cNvPr id="10" name="Shape 8"/>
          <p:cNvSpPr/>
          <p:nvPr/>
        </p:nvSpPr>
        <p:spPr>
          <a:xfrm>
            <a:off x="1188720" y="1572768"/>
            <a:ext cx="118872" cy="118872"/>
          </a:xfrm>
          <a:prstGeom prst="ellipse">
            <a:avLst/>
          </a:prstGeom>
          <a:solidFill>
            <a:srgbClr val="98C379"/>
          </a:solidFill>
          <a:ln/>
        </p:spPr>
      </p:sp>
      <p:sp>
        <p:nvSpPr>
          <p:cNvPr id="11" name="Text 9"/>
          <p:cNvSpPr txBox="1"/>
          <p:nvPr/>
        </p:nvSpPr>
        <p:spPr>
          <a:xfrm>
            <a:off x="548640" y="1463040"/>
            <a:ext cx="5408676" cy="347472"/>
          </a:xfrm>
          <a:prstGeom prst="rect">
            <a:avLst/>
          </a:prstGeom>
          <a:noFill/>
          <a:ln/>
        </p:spPr>
        <p:txBody>
          <a:bodyPr wrap="square" lIns="0" tIns="0" rIns="0" bIns="0" rtlCol="0" anchor="ctr"/>
          <a:lstStyle/>
          <a:p>
            <a:pPr algn="ctr" indent="0" marL="0">
              <a:buNone/>
            </a:pPr>
            <a:r>
              <a:rPr lang="en-US" sz="1050" dirty="0">
                <a:solidFill>
                  <a:srgbClr val="9AA5B1"/>
                </a:solidFill>
                <a:latin typeface="Courier New" pitchFamily="34" charset="0"/>
                <a:ea typeface="Courier New" pitchFamily="34" charset="-122"/>
                <a:cs typeface="Courier New" pitchFamily="34" charset="-120"/>
              </a:rPr>
              <a:t>clinic &gt; Reports &amp; Analytics</a:t>
            </a:r>
            <a:endParaRPr lang="en-US" sz="1050" dirty="0"/>
          </a:p>
        </p:txBody>
      </p:sp>
      <p:sp>
        <p:nvSpPr>
          <p:cNvPr id="12" name="Shape 10"/>
          <p:cNvSpPr/>
          <p:nvPr/>
        </p:nvSpPr>
        <p:spPr>
          <a:xfrm>
            <a:off x="548640" y="1810512"/>
            <a:ext cx="5408676" cy="4590288"/>
          </a:xfrm>
          <a:prstGeom prst="rect">
            <a:avLst/>
          </a:prstGeom>
          <a:solidFill>
            <a:srgbClr val="1E1E2E"/>
          </a:solidFill>
          <a:ln/>
        </p:spPr>
      </p:sp>
      <p:sp>
        <p:nvSpPr>
          <p:cNvPr id="13" name="Text 11"/>
          <p:cNvSpPr txBox="1"/>
          <p:nvPr/>
        </p:nvSpPr>
        <p:spPr>
          <a:xfrm>
            <a:off x="713232" y="1920240"/>
            <a:ext cx="5079492" cy="4334256"/>
          </a:xfrm>
          <a:prstGeom prst="rect">
            <a:avLst/>
          </a:prstGeom>
          <a:noFill/>
          <a:ln/>
        </p:spPr>
        <p:txBody>
          <a:bodyPr wrap="square" lIns="0" tIns="0" rIns="0" bIns="0" rtlCol="0" anchor="t"/>
          <a:lstStyle/>
          <a:p>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Enter your choice: 7
</a:t>
            </a:r>
            <a:pPr algn="l" indent="0" marL="0">
              <a:lnSpc>
                <a:spcPct val="108000"/>
              </a:lnSpc>
              <a:buNone/>
            </a:pPr>
            <a:r>
              <a:rPr lang="en-US" sz="960" dirty="0">
                <a:solidFill>
                  <a:srgbClr val="61AFEF"/>
                </a:solidFill>
                <a:latin typeface="Courier New" pitchFamily="34" charset="0"/>
                <a:ea typeface="Courier New" pitchFamily="34" charset="-122"/>
                <a:cs typeface="Courier New" pitchFamily="34" charset="-120"/>
              </a:rPr>
              <a:t>--- Reports (Streams &amp; Collections) ---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Doctor D1 -&gt; 1 appointment(s)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Doctor D2 -&gt; 1 appointment(s)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Doctor D3 -&gt; 1 appointment(s)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Patients: Aman Gupta, Rahul Verma, Sneha Kulkarni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Distinct blood groups: 3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Oldest patient: Sneha Kulkarni (45)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Recursive medicine subtotal: Rs. 105.00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Recursive binary search for P2 -&gt; index 1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Weekly matrix (Mon..Sun):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1 0 0 0 0 0 0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0 1 0 0 0 0 0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0 0 0 0 0 0 1</a:t>
            </a:r>
            <a:endParaRPr lang="en-US" sz="960" dirty="0"/>
          </a:p>
        </p:txBody>
      </p:sp>
      <p:sp>
        <p:nvSpPr>
          <p:cNvPr id="14" name="Shape 12"/>
          <p:cNvSpPr/>
          <p:nvPr/>
        </p:nvSpPr>
        <p:spPr>
          <a:xfrm>
            <a:off x="6231636" y="1463040"/>
            <a:ext cx="5408676" cy="347472"/>
          </a:xfrm>
          <a:prstGeom prst="roundRect">
            <a:avLst>
              <a:gd name="adj" fmla="val 18421"/>
            </a:avLst>
          </a:prstGeom>
          <a:solidFill>
            <a:srgbClr val="15151F"/>
          </a:solidFill>
          <a:ln/>
        </p:spPr>
      </p:sp>
      <p:sp>
        <p:nvSpPr>
          <p:cNvPr id="15" name="Shape 13"/>
          <p:cNvSpPr/>
          <p:nvPr/>
        </p:nvSpPr>
        <p:spPr>
          <a:xfrm>
            <a:off x="6396228" y="1572768"/>
            <a:ext cx="118872" cy="118872"/>
          </a:xfrm>
          <a:prstGeom prst="ellipse">
            <a:avLst/>
          </a:prstGeom>
          <a:solidFill>
            <a:srgbClr val="E06C75"/>
          </a:solidFill>
          <a:ln/>
        </p:spPr>
      </p:sp>
      <p:sp>
        <p:nvSpPr>
          <p:cNvPr id="16" name="Shape 14"/>
          <p:cNvSpPr/>
          <p:nvPr/>
        </p:nvSpPr>
        <p:spPr>
          <a:xfrm>
            <a:off x="6633972" y="1572768"/>
            <a:ext cx="118872" cy="118872"/>
          </a:xfrm>
          <a:prstGeom prst="ellipse">
            <a:avLst/>
          </a:prstGeom>
          <a:solidFill>
            <a:srgbClr val="E5C07B"/>
          </a:solidFill>
          <a:ln/>
        </p:spPr>
      </p:sp>
      <p:sp>
        <p:nvSpPr>
          <p:cNvPr id="17" name="Shape 15"/>
          <p:cNvSpPr/>
          <p:nvPr/>
        </p:nvSpPr>
        <p:spPr>
          <a:xfrm>
            <a:off x="6871716" y="1572768"/>
            <a:ext cx="118872" cy="118872"/>
          </a:xfrm>
          <a:prstGeom prst="ellipse">
            <a:avLst/>
          </a:prstGeom>
          <a:solidFill>
            <a:srgbClr val="98C379"/>
          </a:solidFill>
          <a:ln/>
        </p:spPr>
      </p:sp>
      <p:sp>
        <p:nvSpPr>
          <p:cNvPr id="18" name="Text 16"/>
          <p:cNvSpPr txBox="1"/>
          <p:nvPr/>
        </p:nvSpPr>
        <p:spPr>
          <a:xfrm>
            <a:off x="6231636" y="1463040"/>
            <a:ext cx="5408676" cy="347472"/>
          </a:xfrm>
          <a:prstGeom prst="rect">
            <a:avLst/>
          </a:prstGeom>
          <a:noFill/>
          <a:ln/>
        </p:spPr>
        <p:txBody>
          <a:bodyPr wrap="square" lIns="0" tIns="0" rIns="0" bIns="0" rtlCol="0" anchor="ctr"/>
          <a:lstStyle/>
          <a:p>
            <a:pPr algn="ctr" indent="0" marL="0">
              <a:buNone/>
            </a:pPr>
            <a:r>
              <a:rPr lang="en-US" sz="1050" dirty="0">
                <a:solidFill>
                  <a:srgbClr val="9AA5B1"/>
                </a:solidFill>
                <a:latin typeface="Courier New" pitchFamily="34" charset="0"/>
                <a:ea typeface="Courier New" pitchFamily="34" charset="-122"/>
                <a:cs typeface="Courier New" pitchFamily="34" charset="-120"/>
              </a:rPr>
              <a:t>clinic &gt; Save / Load (File I/O)</a:t>
            </a:r>
            <a:endParaRPr lang="en-US" sz="1050" dirty="0"/>
          </a:p>
        </p:txBody>
      </p:sp>
      <p:sp>
        <p:nvSpPr>
          <p:cNvPr id="19" name="Shape 17"/>
          <p:cNvSpPr/>
          <p:nvPr/>
        </p:nvSpPr>
        <p:spPr>
          <a:xfrm>
            <a:off x="6231636" y="1810512"/>
            <a:ext cx="5408676" cy="4590288"/>
          </a:xfrm>
          <a:prstGeom prst="rect">
            <a:avLst/>
          </a:prstGeom>
          <a:solidFill>
            <a:srgbClr val="1E1E2E"/>
          </a:solidFill>
          <a:ln/>
        </p:spPr>
      </p:sp>
      <p:sp>
        <p:nvSpPr>
          <p:cNvPr id="20" name="Text 18"/>
          <p:cNvSpPr txBox="1"/>
          <p:nvPr/>
        </p:nvSpPr>
        <p:spPr>
          <a:xfrm>
            <a:off x="6396228" y="1920240"/>
            <a:ext cx="5079492" cy="4334256"/>
          </a:xfrm>
          <a:prstGeom prst="rect">
            <a:avLst/>
          </a:prstGeom>
          <a:noFill/>
          <a:ln/>
        </p:spPr>
        <p:txBody>
          <a:bodyPr wrap="square" lIns="0" tIns="0" rIns="0" bIns="0" rtlCol="0" anchor="t"/>
          <a:lstStyle/>
          <a:p>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Enter your choice: 8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Appointments saved to appointments.csv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Reloaded 3 appointment record(s):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  APT1001|P1|D1|2026-09-20|2|BOOKED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  APT1002|P2|D2|2026-09-21|0|BOOKED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  APT1003|P3|D3|2026-09-22|1|BOOKED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
</a:t>
            </a:r>
            <a:pPr algn="l" indent="0" marL="0">
              <a:lnSpc>
                <a:spcPct val="108000"/>
              </a:lnSpc>
              <a:buNone/>
            </a:pPr>
            <a:r>
              <a:rPr lang="en-US" sz="960" dirty="0">
                <a:solidFill>
                  <a:srgbClr val="E5C07B"/>
                </a:solidFill>
                <a:latin typeface="Courier New" pitchFamily="34" charset="0"/>
                <a:ea typeface="Courier New" pitchFamily="34" charset="-122"/>
                <a:cs typeface="Courier New" pitchFamily="34" charset="-120"/>
              </a:rPr>
              <a:t>Enter your choice: 0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Thank you for using Clinic Manager.
</a:t>
            </a:r>
            <a:pPr algn="l" indent="0" marL="0">
              <a:lnSpc>
                <a:spcPct val="108000"/>
              </a:lnSpc>
              <a:buNone/>
            </a:pPr>
            <a:r>
              <a:rPr lang="en-US" sz="960" dirty="0">
                <a:solidFill>
                  <a:srgbClr val="9CDCC4"/>
                </a:solidFill>
                <a:latin typeface="Courier New" pitchFamily="34" charset="0"/>
                <a:ea typeface="Courier New" pitchFamily="34" charset="-122"/>
                <a:cs typeface="Courier New" pitchFamily="34" charset="-120"/>
              </a:rPr>
              <a:t>Goodbye!</a:t>
            </a:r>
            <a:endParaRPr lang="en-US" sz="960" dirty="0"/>
          </a:p>
        </p:txBody>
      </p:sp>
      <p:sp>
        <p:nvSpPr>
          <p:cNvPr id="21" name="Text 19"/>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6736F"/>
                </a:solidFill>
                <a:latin typeface="Calibri" pitchFamily="34" charset="0"/>
                <a:ea typeface="Calibri" pitchFamily="34" charset="-122"/>
                <a:cs typeface="Calibri" pitchFamily="34" charset="-120"/>
              </a:rPr>
              <a:t>Sample Output</a:t>
            </a:r>
            <a:endParaRPr lang="en-US" sz="900" dirty="0"/>
          </a:p>
        </p:txBody>
      </p:sp>
      <p:sp>
        <p:nvSpPr>
          <p:cNvPr id="22" name="Text 20"/>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900" dirty="0">
                <a:solidFill>
                  <a:srgbClr val="56736F"/>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2A2A"/>
        </a:solidFill>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E4B4B">
              <a:alpha val="65000"/>
            </a:srgbClr>
          </a:solidFill>
          <a:ln/>
        </p:spPr>
      </p:sp>
      <p:sp>
        <p:nvSpPr>
          <p:cNvPr id="3" name="Shape 1"/>
          <p:cNvSpPr/>
          <p:nvPr/>
        </p:nvSpPr>
        <p:spPr>
          <a:xfrm>
            <a:off x="10241280" y="4572000"/>
            <a:ext cx="3291840" cy="3291840"/>
          </a:xfrm>
          <a:prstGeom prst="ellipse">
            <a:avLst/>
          </a:prstGeom>
          <a:solidFill>
            <a:srgbClr val="2EC4B6">
              <a:alpha val="22000"/>
            </a:srgbClr>
          </a:solidFill>
          <a:ln/>
        </p:spPr>
      </p:sp>
      <p:sp>
        <p:nvSpPr>
          <p:cNvPr id="4" name="Shape 2"/>
          <p:cNvSpPr/>
          <p:nvPr/>
        </p:nvSpPr>
        <p:spPr>
          <a:xfrm>
            <a:off x="548640" y="502920"/>
            <a:ext cx="566928" cy="566928"/>
          </a:xfrm>
          <a:prstGeom prst="ellipse">
            <a:avLst/>
          </a:prstGeom>
          <a:solidFill>
            <a:srgbClr val="FF7A59"/>
          </a:solidFill>
          <a:ln/>
        </p:spPr>
      </p:sp>
      <p:sp>
        <p:nvSpPr>
          <p:cNvPr id="5" name="Text 3"/>
          <p:cNvSpPr txBox="1"/>
          <p:nvPr/>
        </p:nvSpPr>
        <p:spPr>
          <a:xfrm>
            <a:off x="548640" y="5029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6" name="Text 4"/>
          <p:cNvSpPr txBox="1"/>
          <p:nvPr/>
        </p:nvSpPr>
        <p:spPr>
          <a:xfrm>
            <a:off x="1325880" y="457200"/>
            <a:ext cx="7315200" cy="64008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7" name="Text 5"/>
          <p:cNvSpPr txBox="1"/>
          <p:nvPr/>
        </p:nvSpPr>
        <p:spPr>
          <a:xfrm>
            <a:off x="822960" y="1417320"/>
            <a:ext cx="10424160" cy="2743200"/>
          </a:xfrm>
          <a:prstGeom prst="rect">
            <a:avLst/>
          </a:prstGeom>
          <a:noFill/>
          <a:ln/>
        </p:spPr>
        <p:txBody>
          <a:bodyPr wrap="square" lIns="0" tIns="0" rIns="0" bIns="0" rtlCol="0" anchor="t"/>
          <a:lstStyle/>
          <a:p>
            <a:pPr algn="l" indent="0" marL="0">
              <a:lnSpc>
                <a:spcPct val="130000"/>
              </a:lnSpc>
              <a:buNone/>
            </a:pPr>
            <a:r>
              <a:rPr lang="en-US" sz="1500" dirty="0">
                <a:solidFill>
                  <a:srgbClr val="E4F3F0"/>
                </a:solidFill>
                <a:latin typeface="Calibri" pitchFamily="34" charset="0"/>
                <a:ea typeface="Calibri" pitchFamily="34" charset="-122"/>
                <a:cs typeface="Calibri" pitchFamily="34" charset="-120"/>
              </a:rPr>
              <a:t>The Clinic Appointment &amp; Prescription Manager shows that a single, well-structured console application can cover a complete introductory Java syllabus end to end — from primitive operators to Stream pipelines — while still solving a genuine, relatable problem.
</a:t>
            </a:r>
            <a:pPr algn="l" indent="0" marL="0">
              <a:lnSpc>
                <a:spcPct val="130000"/>
              </a:lnSpc>
              <a:buNone/>
            </a:pPr>
            <a:r>
              <a:rPr lang="en-US" sz="1500" dirty="0">
                <a:solidFill>
                  <a:srgbClr val="E4F3F0"/>
                </a:solidFill>
                <a:latin typeface="Calibri" pitchFamily="34" charset="0"/>
                <a:ea typeface="Calibri" pitchFamily="34" charset="-122"/>
                <a:cs typeface="Calibri" pitchFamily="34" charset="-120"/>
              </a:rPr>
              <a:t>By layering the code into entities (Person, Doctor, Patient), services (ClinicService) and a presentation layer (ClinicApp), the project also demonstrates good separation of concerns, not just syntax coverage. The result is a small but complete system: it registers people, prevents double-booking, generates prescriptions, computes bills, reports analytics, and reliably saves its state to disk.</a:t>
            </a:r>
            <a:endParaRPr lang="en-US" sz="1500" dirty="0"/>
          </a:p>
        </p:txBody>
      </p:sp>
      <p:sp>
        <p:nvSpPr>
          <p:cNvPr id="8" name="Shape 6"/>
          <p:cNvSpPr/>
          <p:nvPr/>
        </p:nvSpPr>
        <p:spPr>
          <a:xfrm>
            <a:off x="822960" y="4398264"/>
            <a:ext cx="201168" cy="201168"/>
          </a:xfrm>
          <a:prstGeom prst="ellipse">
            <a:avLst/>
          </a:prstGeom>
          <a:solidFill>
            <a:srgbClr val="2EC4B6"/>
          </a:solidFill>
          <a:ln/>
        </p:spPr>
      </p:sp>
      <p:sp>
        <p:nvSpPr>
          <p:cNvPr id="9" name="Text 7"/>
          <p:cNvSpPr txBox="1"/>
          <p:nvPr/>
        </p:nvSpPr>
        <p:spPr>
          <a:xfrm>
            <a:off x="1188720" y="4343400"/>
            <a:ext cx="9875520" cy="36576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Full syllabus coverage in one working codebase</a:t>
            </a:r>
            <a:endParaRPr lang="en-US" sz="1300" dirty="0"/>
          </a:p>
        </p:txBody>
      </p:sp>
      <p:sp>
        <p:nvSpPr>
          <p:cNvPr id="10" name="Shape 8"/>
          <p:cNvSpPr/>
          <p:nvPr/>
        </p:nvSpPr>
        <p:spPr>
          <a:xfrm>
            <a:off x="822960" y="4855464"/>
            <a:ext cx="201168" cy="201168"/>
          </a:xfrm>
          <a:prstGeom prst="ellipse">
            <a:avLst/>
          </a:prstGeom>
          <a:solidFill>
            <a:srgbClr val="2EC4B6"/>
          </a:solidFill>
          <a:ln/>
        </p:spPr>
      </p:sp>
      <p:sp>
        <p:nvSpPr>
          <p:cNvPr id="11" name="Text 9"/>
          <p:cNvSpPr txBox="1"/>
          <p:nvPr/>
        </p:nvSpPr>
        <p:spPr>
          <a:xfrm>
            <a:off x="1188720" y="4800600"/>
            <a:ext cx="9875520" cy="36576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Clean OOP layering: entities, service, UI</a:t>
            </a:r>
            <a:endParaRPr lang="en-US" sz="1300" dirty="0"/>
          </a:p>
        </p:txBody>
      </p:sp>
      <p:sp>
        <p:nvSpPr>
          <p:cNvPr id="12" name="Shape 10"/>
          <p:cNvSpPr/>
          <p:nvPr/>
        </p:nvSpPr>
        <p:spPr>
          <a:xfrm>
            <a:off x="822960" y="5312664"/>
            <a:ext cx="201168" cy="201168"/>
          </a:xfrm>
          <a:prstGeom prst="ellipse">
            <a:avLst/>
          </a:prstGeom>
          <a:solidFill>
            <a:srgbClr val="2EC4B6"/>
          </a:solidFill>
          <a:ln/>
        </p:spPr>
      </p:sp>
      <p:sp>
        <p:nvSpPr>
          <p:cNvPr id="13" name="Text 11"/>
          <p:cNvSpPr txBox="1"/>
          <p:nvPr/>
        </p:nvSpPr>
        <p:spPr>
          <a:xfrm>
            <a:off x="1188720" y="5257800"/>
            <a:ext cx="9875520" cy="36576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Safe by design: checked exceptions guard every booking</a:t>
            </a:r>
            <a:endParaRPr lang="en-US" sz="1300" dirty="0"/>
          </a:p>
        </p:txBody>
      </p:sp>
      <p:sp>
        <p:nvSpPr>
          <p:cNvPr id="14" name="Shape 12"/>
          <p:cNvSpPr/>
          <p:nvPr/>
        </p:nvSpPr>
        <p:spPr>
          <a:xfrm>
            <a:off x="822960" y="5769864"/>
            <a:ext cx="201168" cy="201168"/>
          </a:xfrm>
          <a:prstGeom prst="ellipse">
            <a:avLst/>
          </a:prstGeom>
          <a:solidFill>
            <a:srgbClr val="2EC4B6"/>
          </a:solidFill>
          <a:ln/>
        </p:spPr>
      </p:sp>
      <p:sp>
        <p:nvSpPr>
          <p:cNvPr id="15" name="Text 13"/>
          <p:cNvSpPr txBox="1"/>
          <p:nvPr/>
        </p:nvSpPr>
        <p:spPr>
          <a:xfrm>
            <a:off x="1188720" y="5715000"/>
            <a:ext cx="9875520" cy="36576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Persistent, analyzable data via file I/O &amp; streams</a:t>
            </a:r>
            <a:endParaRPr lang="en-US" sz="1300" dirty="0"/>
          </a:p>
        </p:txBody>
      </p:sp>
      <p:sp>
        <p:nvSpPr>
          <p:cNvPr id="16" name="Text 14"/>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6736F"/>
                </a:solidFill>
                <a:latin typeface="Calibri" pitchFamily="34" charset="0"/>
                <a:ea typeface="Calibri" pitchFamily="34" charset="-122"/>
                <a:cs typeface="Calibri" pitchFamily="34" charset="-120"/>
              </a:rPr>
              <a:t>Clinic Appointment &amp; Prescription Manager</a:t>
            </a:r>
            <a:endParaRPr lang="en-US" sz="900" dirty="0"/>
          </a:p>
        </p:txBody>
      </p:sp>
      <p:sp>
        <p:nvSpPr>
          <p:cNvPr id="17" name="Text 15"/>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900" dirty="0">
                <a:solidFill>
                  <a:srgbClr val="56736F"/>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AF9"/>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4B4B"/>
          </a:solidFill>
          <a:ln/>
        </p:spPr>
      </p:sp>
      <p:sp>
        <p:nvSpPr>
          <p:cNvPr id="3" name="Text 1"/>
          <p:cNvSpPr txBox="1"/>
          <p:nvPr/>
        </p:nvSpPr>
        <p:spPr>
          <a:xfrm>
            <a:off x="548640" y="4572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4" name="Text 2"/>
          <p:cNvSpPr txBox="1"/>
          <p:nvPr/>
        </p:nvSpPr>
        <p:spPr>
          <a:xfrm>
            <a:off x="1325880" y="411480"/>
            <a:ext cx="9601200" cy="640080"/>
          </a:xfrm>
          <a:prstGeom prst="rect">
            <a:avLst/>
          </a:prstGeom>
          <a:noFill/>
          <a:ln/>
        </p:spPr>
        <p:txBody>
          <a:bodyPr wrap="square" lIns="0" tIns="0" rIns="0" bIns="0" rtlCol="0" anchor="ctr"/>
          <a:lstStyle/>
          <a:p>
            <a:pPr algn="l" indent="0" marL="0">
              <a:buNone/>
            </a:pPr>
            <a:r>
              <a:rPr lang="en-US" sz="3000" b="1" dirty="0">
                <a:solidFill>
                  <a:srgbClr val="16302F"/>
                </a:solidFill>
                <a:latin typeface="Cambria" pitchFamily="34" charset="0"/>
                <a:ea typeface="Cambria" pitchFamily="34" charset="-122"/>
                <a:cs typeface="Cambria" pitchFamily="34" charset="-120"/>
              </a:rPr>
              <a:t>Future Work</a:t>
            </a:r>
            <a:endParaRPr lang="en-US" sz="3000" dirty="0"/>
          </a:p>
        </p:txBody>
      </p:sp>
      <p:sp>
        <p:nvSpPr>
          <p:cNvPr id="5" name="Shape 3"/>
          <p:cNvSpPr/>
          <p:nvPr/>
        </p:nvSpPr>
        <p:spPr>
          <a:xfrm>
            <a:off x="1325880" y="987552"/>
            <a:ext cx="2940710" cy="310896"/>
          </a:xfrm>
          <a:prstGeom prst="roundRect">
            <a:avLst>
              <a:gd name="adj" fmla="val 50000"/>
            </a:avLst>
          </a:prstGeom>
          <a:solidFill>
            <a:srgbClr val="FF7A59"/>
          </a:solidFill>
          <a:ln/>
        </p:spPr>
      </p:sp>
      <p:sp>
        <p:nvSpPr>
          <p:cNvPr id="6" name="Text 4"/>
          <p:cNvSpPr txBox="1"/>
          <p:nvPr/>
        </p:nvSpPr>
        <p:spPr>
          <a:xfrm>
            <a:off x="1325880" y="987552"/>
            <a:ext cx="294071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Where this project can grow next</a:t>
            </a:r>
            <a:endParaRPr lang="en-US" sz="1050" dirty="0"/>
          </a:p>
        </p:txBody>
      </p:sp>
      <p:sp>
        <p:nvSpPr>
          <p:cNvPr id="7" name="Shape 5"/>
          <p:cNvSpPr/>
          <p:nvPr/>
        </p:nvSpPr>
        <p:spPr>
          <a:xfrm>
            <a:off x="548640" y="1463040"/>
            <a:ext cx="5349240" cy="1417320"/>
          </a:xfrm>
          <a:prstGeom prst="roundRect">
            <a:avLst>
              <a:gd name="adj" fmla="val 6452"/>
            </a:avLst>
          </a:prstGeom>
          <a:solidFill>
            <a:srgbClr val="FFFFFF"/>
          </a:solidFill>
          <a:ln/>
          <a:effectLst>
            <a:outerShdw sx="100000" sy="100000" kx="0" ky="0" algn="bl" rotWithShape="0" blurRad="76200" dist="25400" dir="5400000">
              <a:srgbClr val="44544F">
                <a:alpha val="13000"/>
              </a:srgbClr>
            </a:outerShdw>
          </a:effectLst>
        </p:spPr>
      </p:sp>
      <p:sp>
        <p:nvSpPr>
          <p:cNvPr id="8" name="Shape 6"/>
          <p:cNvSpPr/>
          <p:nvPr/>
        </p:nvSpPr>
        <p:spPr>
          <a:xfrm>
            <a:off x="749808" y="1645920"/>
            <a:ext cx="73152" cy="1051560"/>
          </a:xfrm>
          <a:prstGeom prst="roundRect">
            <a:avLst>
              <a:gd name="adj" fmla="val 50000"/>
            </a:avLst>
          </a:prstGeom>
          <a:solidFill>
            <a:srgbClr val="0E4B4B"/>
          </a:solidFill>
          <a:ln/>
        </p:spPr>
      </p:sp>
      <p:sp>
        <p:nvSpPr>
          <p:cNvPr id="9" name="Text 7"/>
          <p:cNvSpPr txBox="1"/>
          <p:nvPr/>
        </p:nvSpPr>
        <p:spPr>
          <a:xfrm>
            <a:off x="960120" y="1609344"/>
            <a:ext cx="4754880" cy="365760"/>
          </a:xfrm>
          <a:prstGeom prst="rect">
            <a:avLst/>
          </a:prstGeom>
          <a:noFill/>
          <a:ln/>
        </p:spPr>
        <p:txBody>
          <a:bodyPr wrap="square" lIns="0" tIns="0" rIns="0" bIns="0" rtlCol="0" anchor="ctr"/>
          <a:lstStyle/>
          <a:p>
            <a:pPr algn="l" indent="0" marL="0">
              <a:buNone/>
            </a:pPr>
            <a:r>
              <a:rPr lang="en-US" sz="1400" b="1" dirty="0">
                <a:solidFill>
                  <a:srgbClr val="16302F"/>
                </a:solidFill>
                <a:latin typeface="Cambria" pitchFamily="34" charset="0"/>
                <a:ea typeface="Cambria" pitchFamily="34" charset="-122"/>
                <a:cs typeface="Cambria" pitchFamily="34" charset="-120"/>
              </a:rPr>
              <a:t>Graphical interface</a:t>
            </a:r>
            <a:endParaRPr lang="en-US" sz="1400" dirty="0"/>
          </a:p>
        </p:txBody>
      </p:sp>
      <p:sp>
        <p:nvSpPr>
          <p:cNvPr id="10" name="Text 8"/>
          <p:cNvSpPr txBox="1"/>
          <p:nvPr/>
        </p:nvSpPr>
        <p:spPr>
          <a:xfrm>
            <a:off x="960120" y="1993392"/>
            <a:ext cx="4754880" cy="777240"/>
          </a:xfrm>
          <a:prstGeom prst="rect">
            <a:avLst/>
          </a:prstGeom>
          <a:noFill/>
          <a:ln/>
        </p:spPr>
        <p:txBody>
          <a:bodyPr wrap="square" lIns="0" tIns="0" rIns="0" bIns="0" rtlCol="0" anchor="ctr"/>
          <a:lstStyle/>
          <a:p>
            <a:pPr algn="l" indent="0" marL="0">
              <a:lnSpc>
                <a:spcPct val="120000"/>
              </a:lnSpc>
              <a:buNone/>
            </a:pPr>
            <a:r>
              <a:rPr lang="en-US" sz="1100" dirty="0">
                <a:solidFill>
                  <a:srgbClr val="56736F"/>
                </a:solidFill>
                <a:latin typeface="Calibri" pitchFamily="34" charset="0"/>
                <a:ea typeface="Calibri" pitchFamily="34" charset="-122"/>
                <a:cs typeface="Calibri" pitchFamily="34" charset="-120"/>
              </a:rPr>
              <a:t>Rebuild the console UI as a JavaFX or Swing desktop app, or a Spring Boot web UI.</a:t>
            </a:r>
            <a:endParaRPr lang="en-US" sz="1100" dirty="0"/>
          </a:p>
        </p:txBody>
      </p:sp>
      <p:sp>
        <p:nvSpPr>
          <p:cNvPr id="11" name="Shape 9"/>
          <p:cNvSpPr/>
          <p:nvPr/>
        </p:nvSpPr>
        <p:spPr>
          <a:xfrm>
            <a:off x="6126480" y="1463040"/>
            <a:ext cx="5349240" cy="1417320"/>
          </a:xfrm>
          <a:prstGeom prst="roundRect">
            <a:avLst>
              <a:gd name="adj" fmla="val 6452"/>
            </a:avLst>
          </a:prstGeom>
          <a:solidFill>
            <a:srgbClr val="FFFFFF"/>
          </a:solidFill>
          <a:ln/>
          <a:effectLst>
            <a:outerShdw sx="100000" sy="100000" kx="0" ky="0" algn="bl" rotWithShape="0" blurRad="76200" dist="25400" dir="5400000">
              <a:srgbClr val="44544F">
                <a:alpha val="13000"/>
              </a:srgbClr>
            </a:outerShdw>
          </a:effectLst>
        </p:spPr>
      </p:sp>
      <p:sp>
        <p:nvSpPr>
          <p:cNvPr id="12" name="Shape 10"/>
          <p:cNvSpPr/>
          <p:nvPr/>
        </p:nvSpPr>
        <p:spPr>
          <a:xfrm>
            <a:off x="6327648" y="1645920"/>
            <a:ext cx="73152" cy="1051560"/>
          </a:xfrm>
          <a:prstGeom prst="roundRect">
            <a:avLst>
              <a:gd name="adj" fmla="val 50000"/>
            </a:avLst>
          </a:prstGeom>
          <a:solidFill>
            <a:srgbClr val="FF7A59"/>
          </a:solidFill>
          <a:ln/>
        </p:spPr>
      </p:sp>
      <p:sp>
        <p:nvSpPr>
          <p:cNvPr id="13" name="Text 11"/>
          <p:cNvSpPr txBox="1"/>
          <p:nvPr/>
        </p:nvSpPr>
        <p:spPr>
          <a:xfrm>
            <a:off x="6537960" y="1609344"/>
            <a:ext cx="4754880" cy="365760"/>
          </a:xfrm>
          <a:prstGeom prst="rect">
            <a:avLst/>
          </a:prstGeom>
          <a:noFill/>
          <a:ln/>
        </p:spPr>
        <p:txBody>
          <a:bodyPr wrap="square" lIns="0" tIns="0" rIns="0" bIns="0" rtlCol="0" anchor="ctr"/>
          <a:lstStyle/>
          <a:p>
            <a:pPr algn="l" indent="0" marL="0">
              <a:buNone/>
            </a:pPr>
            <a:r>
              <a:rPr lang="en-US" sz="1400" b="1" dirty="0">
                <a:solidFill>
                  <a:srgbClr val="16302F"/>
                </a:solidFill>
                <a:latin typeface="Cambria" pitchFamily="34" charset="0"/>
                <a:ea typeface="Cambria" pitchFamily="34" charset="-122"/>
                <a:cs typeface="Cambria" pitchFamily="34" charset="-120"/>
              </a:rPr>
              <a:t>Database persistence</a:t>
            </a:r>
            <a:endParaRPr lang="en-US" sz="1400" dirty="0"/>
          </a:p>
        </p:txBody>
      </p:sp>
      <p:sp>
        <p:nvSpPr>
          <p:cNvPr id="14" name="Text 12"/>
          <p:cNvSpPr txBox="1"/>
          <p:nvPr/>
        </p:nvSpPr>
        <p:spPr>
          <a:xfrm>
            <a:off x="6537960" y="1993392"/>
            <a:ext cx="4754880" cy="777240"/>
          </a:xfrm>
          <a:prstGeom prst="rect">
            <a:avLst/>
          </a:prstGeom>
          <a:noFill/>
          <a:ln/>
        </p:spPr>
        <p:txBody>
          <a:bodyPr wrap="square" lIns="0" tIns="0" rIns="0" bIns="0" rtlCol="0" anchor="ctr"/>
          <a:lstStyle/>
          <a:p>
            <a:pPr algn="l" indent="0" marL="0">
              <a:lnSpc>
                <a:spcPct val="120000"/>
              </a:lnSpc>
              <a:buNone/>
            </a:pPr>
            <a:r>
              <a:rPr lang="en-US" sz="1100" dirty="0">
                <a:solidFill>
                  <a:srgbClr val="56736F"/>
                </a:solidFill>
                <a:latin typeface="Calibri" pitchFamily="34" charset="0"/>
                <a:ea typeface="Calibri" pitchFamily="34" charset="-122"/>
                <a:cs typeface="Calibri" pitchFamily="34" charset="-120"/>
              </a:rPr>
              <a:t>Replace the CSV file with JDBC + MySQL/PostgreSQL for multi-user, concurrent access.</a:t>
            </a:r>
            <a:endParaRPr lang="en-US" sz="1100" dirty="0"/>
          </a:p>
        </p:txBody>
      </p:sp>
      <p:sp>
        <p:nvSpPr>
          <p:cNvPr id="15" name="Shape 13"/>
          <p:cNvSpPr/>
          <p:nvPr/>
        </p:nvSpPr>
        <p:spPr>
          <a:xfrm>
            <a:off x="548640" y="3108960"/>
            <a:ext cx="5349240" cy="1417320"/>
          </a:xfrm>
          <a:prstGeom prst="roundRect">
            <a:avLst>
              <a:gd name="adj" fmla="val 6452"/>
            </a:avLst>
          </a:prstGeom>
          <a:solidFill>
            <a:srgbClr val="FFFFFF"/>
          </a:solidFill>
          <a:ln/>
          <a:effectLst>
            <a:outerShdw sx="100000" sy="100000" kx="0" ky="0" algn="bl" rotWithShape="0" blurRad="76200" dist="25400" dir="5400000">
              <a:srgbClr val="44544F">
                <a:alpha val="13000"/>
              </a:srgbClr>
            </a:outerShdw>
          </a:effectLst>
        </p:spPr>
      </p:sp>
      <p:sp>
        <p:nvSpPr>
          <p:cNvPr id="16" name="Shape 14"/>
          <p:cNvSpPr/>
          <p:nvPr/>
        </p:nvSpPr>
        <p:spPr>
          <a:xfrm>
            <a:off x="749808" y="3291840"/>
            <a:ext cx="73152" cy="1051560"/>
          </a:xfrm>
          <a:prstGeom prst="roundRect">
            <a:avLst>
              <a:gd name="adj" fmla="val 50000"/>
            </a:avLst>
          </a:prstGeom>
          <a:solidFill>
            <a:srgbClr val="0E4B4B"/>
          </a:solidFill>
          <a:ln/>
        </p:spPr>
      </p:sp>
      <p:sp>
        <p:nvSpPr>
          <p:cNvPr id="17" name="Text 15"/>
          <p:cNvSpPr txBox="1"/>
          <p:nvPr/>
        </p:nvSpPr>
        <p:spPr>
          <a:xfrm>
            <a:off x="960120" y="3255264"/>
            <a:ext cx="4754880" cy="365760"/>
          </a:xfrm>
          <a:prstGeom prst="rect">
            <a:avLst/>
          </a:prstGeom>
          <a:noFill/>
          <a:ln/>
        </p:spPr>
        <p:txBody>
          <a:bodyPr wrap="square" lIns="0" tIns="0" rIns="0" bIns="0" rtlCol="0" anchor="ctr"/>
          <a:lstStyle/>
          <a:p>
            <a:pPr algn="l" indent="0" marL="0">
              <a:buNone/>
            </a:pPr>
            <a:r>
              <a:rPr lang="en-US" sz="1400" b="1" dirty="0">
                <a:solidFill>
                  <a:srgbClr val="16302F"/>
                </a:solidFill>
                <a:latin typeface="Cambria" pitchFamily="34" charset="0"/>
                <a:ea typeface="Cambria" pitchFamily="34" charset="-122"/>
                <a:cs typeface="Cambria" pitchFamily="34" charset="-120"/>
              </a:rPr>
              <a:t>Authentication &amp; roles</a:t>
            </a:r>
            <a:endParaRPr lang="en-US" sz="1400" dirty="0"/>
          </a:p>
        </p:txBody>
      </p:sp>
      <p:sp>
        <p:nvSpPr>
          <p:cNvPr id="18" name="Text 16"/>
          <p:cNvSpPr txBox="1"/>
          <p:nvPr/>
        </p:nvSpPr>
        <p:spPr>
          <a:xfrm>
            <a:off x="960120" y="3639312"/>
            <a:ext cx="4754880" cy="777240"/>
          </a:xfrm>
          <a:prstGeom prst="rect">
            <a:avLst/>
          </a:prstGeom>
          <a:noFill/>
          <a:ln/>
        </p:spPr>
        <p:txBody>
          <a:bodyPr wrap="square" lIns="0" tIns="0" rIns="0" bIns="0" rtlCol="0" anchor="ctr"/>
          <a:lstStyle/>
          <a:p>
            <a:pPr algn="l" indent="0" marL="0">
              <a:lnSpc>
                <a:spcPct val="120000"/>
              </a:lnSpc>
              <a:buNone/>
            </a:pPr>
            <a:r>
              <a:rPr lang="en-US" sz="1100" dirty="0">
                <a:solidFill>
                  <a:srgbClr val="56736F"/>
                </a:solidFill>
                <a:latin typeface="Calibri" pitchFamily="34" charset="0"/>
                <a:ea typeface="Calibri" pitchFamily="34" charset="-122"/>
                <a:cs typeface="Calibri" pitchFamily="34" charset="-120"/>
              </a:rPr>
              <a:t>Add login for receptionists, doctors and admins with role-based permissions.</a:t>
            </a:r>
            <a:endParaRPr lang="en-US" sz="1100" dirty="0"/>
          </a:p>
        </p:txBody>
      </p:sp>
      <p:sp>
        <p:nvSpPr>
          <p:cNvPr id="19" name="Shape 17"/>
          <p:cNvSpPr/>
          <p:nvPr/>
        </p:nvSpPr>
        <p:spPr>
          <a:xfrm>
            <a:off x="6126480" y="3108960"/>
            <a:ext cx="5349240" cy="1417320"/>
          </a:xfrm>
          <a:prstGeom prst="roundRect">
            <a:avLst>
              <a:gd name="adj" fmla="val 6452"/>
            </a:avLst>
          </a:prstGeom>
          <a:solidFill>
            <a:srgbClr val="FFFFFF"/>
          </a:solidFill>
          <a:ln/>
          <a:effectLst>
            <a:outerShdw sx="100000" sy="100000" kx="0" ky="0" algn="bl" rotWithShape="0" blurRad="76200" dist="25400" dir="5400000">
              <a:srgbClr val="44544F">
                <a:alpha val="13000"/>
              </a:srgbClr>
            </a:outerShdw>
          </a:effectLst>
        </p:spPr>
      </p:sp>
      <p:sp>
        <p:nvSpPr>
          <p:cNvPr id="20" name="Shape 18"/>
          <p:cNvSpPr/>
          <p:nvPr/>
        </p:nvSpPr>
        <p:spPr>
          <a:xfrm>
            <a:off x="6327648" y="3291840"/>
            <a:ext cx="73152" cy="1051560"/>
          </a:xfrm>
          <a:prstGeom prst="roundRect">
            <a:avLst>
              <a:gd name="adj" fmla="val 50000"/>
            </a:avLst>
          </a:prstGeom>
          <a:solidFill>
            <a:srgbClr val="FF7A59"/>
          </a:solidFill>
          <a:ln/>
        </p:spPr>
      </p:sp>
      <p:sp>
        <p:nvSpPr>
          <p:cNvPr id="21" name="Text 19"/>
          <p:cNvSpPr txBox="1"/>
          <p:nvPr/>
        </p:nvSpPr>
        <p:spPr>
          <a:xfrm>
            <a:off x="6537960" y="3255264"/>
            <a:ext cx="4754880" cy="365760"/>
          </a:xfrm>
          <a:prstGeom prst="rect">
            <a:avLst/>
          </a:prstGeom>
          <a:noFill/>
          <a:ln/>
        </p:spPr>
        <p:txBody>
          <a:bodyPr wrap="square" lIns="0" tIns="0" rIns="0" bIns="0" rtlCol="0" anchor="ctr"/>
          <a:lstStyle/>
          <a:p>
            <a:pPr algn="l" indent="0" marL="0">
              <a:buNone/>
            </a:pPr>
            <a:r>
              <a:rPr lang="en-US" sz="1400" b="1" dirty="0">
                <a:solidFill>
                  <a:srgbClr val="16302F"/>
                </a:solidFill>
                <a:latin typeface="Cambria" pitchFamily="34" charset="0"/>
                <a:ea typeface="Cambria" pitchFamily="34" charset="-122"/>
                <a:cs typeface="Cambria" pitchFamily="34" charset="-120"/>
              </a:rPr>
              <a:t>Automated reminders</a:t>
            </a:r>
            <a:endParaRPr lang="en-US" sz="1400" dirty="0"/>
          </a:p>
        </p:txBody>
      </p:sp>
      <p:sp>
        <p:nvSpPr>
          <p:cNvPr id="22" name="Text 20"/>
          <p:cNvSpPr txBox="1"/>
          <p:nvPr/>
        </p:nvSpPr>
        <p:spPr>
          <a:xfrm>
            <a:off x="6537960" y="3639312"/>
            <a:ext cx="4754880" cy="777240"/>
          </a:xfrm>
          <a:prstGeom prst="rect">
            <a:avLst/>
          </a:prstGeom>
          <a:noFill/>
          <a:ln/>
        </p:spPr>
        <p:txBody>
          <a:bodyPr wrap="square" lIns="0" tIns="0" rIns="0" bIns="0" rtlCol="0" anchor="ctr"/>
          <a:lstStyle/>
          <a:p>
            <a:pPr algn="l" indent="0" marL="0">
              <a:lnSpc>
                <a:spcPct val="120000"/>
              </a:lnSpc>
              <a:buNone/>
            </a:pPr>
            <a:r>
              <a:rPr lang="en-US" sz="1100" dirty="0">
                <a:solidFill>
                  <a:srgbClr val="56736F"/>
                </a:solidFill>
                <a:latin typeface="Calibri" pitchFamily="34" charset="0"/>
                <a:ea typeface="Calibri" pitchFamily="34" charset="-122"/>
                <a:cs typeface="Calibri" pitchFamily="34" charset="-120"/>
              </a:rPr>
              <a:t>Integrate email/SMS APIs to remind patients before their appointment slot.</a:t>
            </a:r>
            <a:endParaRPr lang="en-US" sz="1100" dirty="0"/>
          </a:p>
        </p:txBody>
      </p:sp>
      <p:sp>
        <p:nvSpPr>
          <p:cNvPr id="23" name="Shape 21"/>
          <p:cNvSpPr/>
          <p:nvPr/>
        </p:nvSpPr>
        <p:spPr>
          <a:xfrm>
            <a:off x="548640" y="4754880"/>
            <a:ext cx="5349240" cy="1417320"/>
          </a:xfrm>
          <a:prstGeom prst="roundRect">
            <a:avLst>
              <a:gd name="adj" fmla="val 6452"/>
            </a:avLst>
          </a:prstGeom>
          <a:solidFill>
            <a:srgbClr val="FFFFFF"/>
          </a:solidFill>
          <a:ln/>
          <a:effectLst>
            <a:outerShdw sx="100000" sy="100000" kx="0" ky="0" algn="bl" rotWithShape="0" blurRad="76200" dist="25400" dir="5400000">
              <a:srgbClr val="44544F">
                <a:alpha val="13000"/>
              </a:srgbClr>
            </a:outerShdw>
          </a:effectLst>
        </p:spPr>
      </p:sp>
      <p:sp>
        <p:nvSpPr>
          <p:cNvPr id="24" name="Shape 22"/>
          <p:cNvSpPr/>
          <p:nvPr/>
        </p:nvSpPr>
        <p:spPr>
          <a:xfrm>
            <a:off x="749808" y="4937760"/>
            <a:ext cx="73152" cy="1051560"/>
          </a:xfrm>
          <a:prstGeom prst="roundRect">
            <a:avLst>
              <a:gd name="adj" fmla="val 50000"/>
            </a:avLst>
          </a:prstGeom>
          <a:solidFill>
            <a:srgbClr val="0E4B4B"/>
          </a:solidFill>
          <a:ln/>
        </p:spPr>
      </p:sp>
      <p:sp>
        <p:nvSpPr>
          <p:cNvPr id="25" name="Text 23"/>
          <p:cNvSpPr txBox="1"/>
          <p:nvPr/>
        </p:nvSpPr>
        <p:spPr>
          <a:xfrm>
            <a:off x="960120" y="4901184"/>
            <a:ext cx="4754880" cy="365760"/>
          </a:xfrm>
          <a:prstGeom prst="rect">
            <a:avLst/>
          </a:prstGeom>
          <a:noFill/>
          <a:ln/>
        </p:spPr>
        <p:txBody>
          <a:bodyPr wrap="square" lIns="0" tIns="0" rIns="0" bIns="0" rtlCol="0" anchor="ctr"/>
          <a:lstStyle/>
          <a:p>
            <a:pPr algn="l" indent="0" marL="0">
              <a:buNone/>
            </a:pPr>
            <a:r>
              <a:rPr lang="en-US" sz="1400" b="1" dirty="0">
                <a:solidFill>
                  <a:srgbClr val="16302F"/>
                </a:solidFill>
                <a:latin typeface="Cambria" pitchFamily="34" charset="0"/>
                <a:ea typeface="Cambria" pitchFamily="34" charset="-122"/>
                <a:cs typeface="Cambria" pitchFamily="34" charset="-120"/>
              </a:rPr>
              <a:t>Billing &amp; invoices</a:t>
            </a:r>
            <a:endParaRPr lang="en-US" sz="1400" dirty="0"/>
          </a:p>
        </p:txBody>
      </p:sp>
      <p:sp>
        <p:nvSpPr>
          <p:cNvPr id="26" name="Text 24"/>
          <p:cNvSpPr txBox="1"/>
          <p:nvPr/>
        </p:nvSpPr>
        <p:spPr>
          <a:xfrm>
            <a:off x="960120" y="5285232"/>
            <a:ext cx="4754880" cy="777240"/>
          </a:xfrm>
          <a:prstGeom prst="rect">
            <a:avLst/>
          </a:prstGeom>
          <a:noFill/>
          <a:ln/>
        </p:spPr>
        <p:txBody>
          <a:bodyPr wrap="square" lIns="0" tIns="0" rIns="0" bIns="0" rtlCol="0" anchor="ctr"/>
          <a:lstStyle/>
          <a:p>
            <a:pPr algn="l" indent="0" marL="0">
              <a:lnSpc>
                <a:spcPct val="120000"/>
              </a:lnSpc>
              <a:buNone/>
            </a:pPr>
            <a:r>
              <a:rPr lang="en-US" sz="1100" dirty="0">
                <a:solidFill>
                  <a:srgbClr val="56736F"/>
                </a:solidFill>
                <a:latin typeface="Calibri" pitchFamily="34" charset="0"/>
                <a:ea typeface="Calibri" pitchFamily="34" charset="-122"/>
                <a:cs typeface="Calibri" pitchFamily="34" charset="-120"/>
              </a:rPr>
              <a:t>Extend the billing calculator into full invoicing with PDF export (via the pdf module).</a:t>
            </a:r>
            <a:endParaRPr lang="en-US" sz="1100" dirty="0"/>
          </a:p>
        </p:txBody>
      </p:sp>
      <p:sp>
        <p:nvSpPr>
          <p:cNvPr id="27" name="Shape 25"/>
          <p:cNvSpPr/>
          <p:nvPr/>
        </p:nvSpPr>
        <p:spPr>
          <a:xfrm>
            <a:off x="6126480" y="4754880"/>
            <a:ext cx="5349240" cy="1417320"/>
          </a:xfrm>
          <a:prstGeom prst="roundRect">
            <a:avLst>
              <a:gd name="adj" fmla="val 6452"/>
            </a:avLst>
          </a:prstGeom>
          <a:solidFill>
            <a:srgbClr val="FFFFFF"/>
          </a:solidFill>
          <a:ln/>
          <a:effectLst>
            <a:outerShdw sx="100000" sy="100000" kx="0" ky="0" algn="bl" rotWithShape="0" blurRad="76200" dist="25400" dir="5400000">
              <a:srgbClr val="44544F">
                <a:alpha val="13000"/>
              </a:srgbClr>
            </a:outerShdw>
          </a:effectLst>
        </p:spPr>
      </p:sp>
      <p:sp>
        <p:nvSpPr>
          <p:cNvPr id="28" name="Shape 26"/>
          <p:cNvSpPr/>
          <p:nvPr/>
        </p:nvSpPr>
        <p:spPr>
          <a:xfrm>
            <a:off x="6327648" y="4937760"/>
            <a:ext cx="73152" cy="1051560"/>
          </a:xfrm>
          <a:prstGeom prst="roundRect">
            <a:avLst>
              <a:gd name="adj" fmla="val 50000"/>
            </a:avLst>
          </a:prstGeom>
          <a:solidFill>
            <a:srgbClr val="FF7A59"/>
          </a:solidFill>
          <a:ln/>
        </p:spPr>
      </p:sp>
      <p:sp>
        <p:nvSpPr>
          <p:cNvPr id="29" name="Text 27"/>
          <p:cNvSpPr txBox="1"/>
          <p:nvPr/>
        </p:nvSpPr>
        <p:spPr>
          <a:xfrm>
            <a:off x="6537960" y="4901184"/>
            <a:ext cx="4754880" cy="365760"/>
          </a:xfrm>
          <a:prstGeom prst="rect">
            <a:avLst/>
          </a:prstGeom>
          <a:noFill/>
          <a:ln/>
        </p:spPr>
        <p:txBody>
          <a:bodyPr wrap="square" lIns="0" tIns="0" rIns="0" bIns="0" rtlCol="0" anchor="ctr"/>
          <a:lstStyle/>
          <a:p>
            <a:pPr algn="l" indent="0" marL="0">
              <a:buNone/>
            </a:pPr>
            <a:r>
              <a:rPr lang="en-US" sz="1400" b="1" dirty="0">
                <a:solidFill>
                  <a:srgbClr val="16302F"/>
                </a:solidFill>
                <a:latin typeface="Cambria" pitchFamily="34" charset="0"/>
                <a:ea typeface="Cambria" pitchFamily="34" charset="-122"/>
                <a:cs typeface="Cambria" pitchFamily="34" charset="-120"/>
              </a:rPr>
              <a:t>Unit testing</a:t>
            </a:r>
            <a:endParaRPr lang="en-US" sz="1400" dirty="0"/>
          </a:p>
        </p:txBody>
      </p:sp>
      <p:sp>
        <p:nvSpPr>
          <p:cNvPr id="30" name="Text 28"/>
          <p:cNvSpPr txBox="1"/>
          <p:nvPr/>
        </p:nvSpPr>
        <p:spPr>
          <a:xfrm>
            <a:off x="6537960" y="5285232"/>
            <a:ext cx="4754880" cy="777240"/>
          </a:xfrm>
          <a:prstGeom prst="rect">
            <a:avLst/>
          </a:prstGeom>
          <a:noFill/>
          <a:ln/>
        </p:spPr>
        <p:txBody>
          <a:bodyPr wrap="square" lIns="0" tIns="0" rIns="0" bIns="0" rtlCol="0" anchor="ctr"/>
          <a:lstStyle/>
          <a:p>
            <a:pPr algn="l" indent="0" marL="0">
              <a:lnSpc>
                <a:spcPct val="120000"/>
              </a:lnSpc>
              <a:buNone/>
            </a:pPr>
            <a:r>
              <a:rPr lang="en-US" sz="1100" dirty="0">
                <a:solidFill>
                  <a:srgbClr val="56736F"/>
                </a:solidFill>
                <a:latin typeface="Calibri" pitchFamily="34" charset="0"/>
                <a:ea typeface="Calibri" pitchFamily="34" charset="-122"/>
                <a:cs typeface="Calibri" pitchFamily="34" charset="-120"/>
              </a:rPr>
              <a:t>Add JUnit tests for ClinicService to validate booking rules and stream-based reports.</a:t>
            </a:r>
            <a:endParaRPr lang="en-US" sz="1100" dirty="0"/>
          </a:p>
        </p:txBody>
      </p:sp>
      <p:sp>
        <p:nvSpPr>
          <p:cNvPr id="31" name="Text 29"/>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900" dirty="0">
                <a:solidFill>
                  <a:srgbClr val="56736F"/>
                </a:solidFill>
                <a:latin typeface="Calibri" pitchFamily="34" charset="0"/>
                <a:ea typeface="Calibri" pitchFamily="34" charset="-122"/>
                <a:cs typeface="Calibri" pitchFamily="34" charset="-120"/>
              </a:rPr>
              <a:t>Clinic Appointment &amp; Prescription Manager</a:t>
            </a:r>
            <a:endParaRPr lang="en-US" sz="900" dirty="0"/>
          </a:p>
        </p:txBody>
      </p:sp>
      <p:sp>
        <p:nvSpPr>
          <p:cNvPr id="32" name="Text 30"/>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900" dirty="0">
                <a:solidFill>
                  <a:srgbClr val="56736F"/>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2026-09-19T15:53:06Z</dcterms:created>
  <dcterms:modified xsi:type="dcterms:W3CDTF">2026-09-19T15:53:06Z</dcterms:modified>
</cp:coreProperties>
</file>